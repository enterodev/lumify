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0" d="100"/>
          <a:sy n="100" d="100"/>
        </p:scale>
        <p:origin x="1338" y="1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2602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Begruessung. Das ist Lumify - mein Jahresprojekt: ein teambasierter Alltags- und Projektplaner. Der Slogan 'Bring clarity into your life' fasst die Idee zusammen: Struktur und Klarheit in Alltag und Projekte bringen. Ich führe in den nächsten ~30 Minuten durch Idee, Problem, Lösung, Features und die Technik dahinter.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Kurzer Fahrplan. Ich starte mit der Idee, zeige dann das Problem am Markt und Lumify als Lösung. Danach das zentrale Konzept - Spaces und Workspaces -, anschliessend die drei Kern-Features. Dann Echtzeit-Zusammenarbeit, der Technik-Teil mit Architektur, und zum Schluss Projektablauf und Ausblick. Fragen gerne am Ende.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Lumify in einem Satz: eine Web-App, die verschiedene Planungs-Werkzeuge unter einem Dach bündelt - und zwar so, dass mehrere Leute gleichzeitig daran arbeiten können, ohne die Seite neu zu laden. Drei Saeulen: persoenlich (jeder hat einen privaten Space), im Team (Workspaces mit Mitgliedern) und erweiterbar - genau darauf komme ich gleich zurück.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 Problem, aus dem die Idee entstand: Wer strukturieren will, nutzt heute mehrere getrennte Tools. Es gibt kaum eine App, die Notizen, Aufgaben und Termine vereint UND gleichzeitig echte Echtzeit-Teamarbeit erlaubt - die meisten Vergleichsapps sind reine Whiteboards. Dazu kommt: privat und Arbeit sind oft getrennt, und geschlossene Apps lassen sich nicht erweitern. Genau diese Lücke wollte ich füllen.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Lumify ist die Antwort darauf: alle Basis-Werkzeuge an einem Ort, gemeinsam nutzbar in Echtzeit, getrennt nach privatem Space und Team-Workspaces. Dazu ein bewusst stimmungsbasiertes UI mit Themes und Optimistic-UI - die App fühlt sich schnell an, weil Aktionen sofort angezeigt werden. Und der Aufbau ist von Anfang an auf Erweiterbarkeit und Sicherheit ausgelegt. Diese sechs Punkte ziehen sich durch den Rest der Präsentation.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Zwei Zielgruppen. Erstens private Nutzer, die einfach mehr Überblick im Alltag wollen - die arbeiten vor allem im privaten Space. Zweitens Teams, Projektgruppen oder Firmen, die gemeinsam planen und abarbeiten - die nutzen Workspaces mit mehreren Mitgliedern und die Live-Synchronisation. Wichtig: derselbe Funktionsumfang bedient beide - der Unterschied ist nur, ob man allein oder zusammen arbeitet.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ist die App aufgebaut - vier Ebenen. Man landet auf der Auth-Schicht (Login, Registrierung, optional Mehr-Faktor). Danach das persoenliche Dashboard mit den eigenen Workspaces, der Freundesliste und letzten Aktivitaeten. Von dort betritt man einen Space - entweder den privaten oder einen Workspace. Und in jedem Space gibt es dieselbe Feature-Auswahl. Der Clou: privater Space und Workspace funktionieren technisch gleich - ein gekapselter Bereich, nur der Inhalt und die Mitglieder unterscheiden sich.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 ist das Herzstueck des Konzepts. Ein Space ist wie ein leerer Raum, in den man Feature-Module stellt. Heute sind das Notizen, Todos und Events - aber der Aufbau ist bewusst so gewählt, dass man kuenftig weitere Features als gekapselte Module andocken kann, ohne den Rest umzubauen. Vier Eigenschaften: adaptiv (jeder Space nimmt nur, was er braucht), erweiterbar, gekapselt (Daten und Rechte sind pro Space isoliert) und einheitlich (privater Space und Workspace laufen auf derselben Mechanik). Das war von Anfang an ein zentrales Designziel - die App sollte erweiterbar aufgebaut sein.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 Alleinstellungsmerkmal gegenüber vielen anderen Apps: echte Echtzeit. Wenn Nutzer A ein Todo ändert, geht das über einen SignalR-Hub im Backend an alle anderen im selben Space - Nutzer B sieht die Änderung sofort, ohne Reload. Es gibt eigene Hubs für Workspace, Notizen, Todos, Events und Chat. Auf demselben Echtzeit-Fundament laufen die Usersysteme: Freundschaftssystem, Präsenz (wer ist online) und ein Chatsystem. Ein PresenceService verwaltet dabei die Online-Zustaende.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Technik-Stack in drei Saeulen. Frontend: Next.js mit React und TypeScript, gestylt mit Tailwind - inklusive des Theme-Systems. Optimistic-UI sorgt für das schnelle Gefühl. Backend: eine .NET-API in C# mit klassischen CRUD-Endpunkten, Entity Framework für den Datenbankzugriff samt Migrations, SignalR für Echtzeit und diverse Services. Daten und Betrieb: eine relationale Datenbank, Deployment über Docker, Caddy als Reverse-Proxy für HTTPS, und die Sicherheitsschicht mit Auth, MFA und CSRF-Schutz. Auf der nächsten Folie zeige ich, wie das zusammenspielt.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Architektur ist eine klassische Drei-Schichten-Trennung. Das Frontend im Browser ruft die .NET-API über HTTPS und JSON auf - normale CRUD-Operationen. Die API enthält die Logik, die Services und die Sicherheitsschicht und spricht über Entity Framework mit der relationalen Datenbank. In der DB gibt es nicht nur Tabellen, sondern auch Views und Trigger - zum Beispiel synchronisiert ein Trigger automatisch den Status einer Todo-Liste, wenn man Eintraege abhakt. Und parallel laeuft die Echtzeit-Schiene: der SignalR-Client hält eine Dauerverbindung zu den Hubs, über die Live-Updates zurückkommen.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Qualität und Sicherheit waren von Anfang an Anforderungen, keine Nachgedanken. Authentifizierung inkl. Mehr-Faktor, eine eigene CSRF-Middleware, geschützte Endpunkte mit getrennten DTOs - die Datenbankmodelle gehen also nie direkt nach aussen. Optimistic-UI mit sauberem Rollback bei Fehlern. Beim Code habe ich auf Objektorientierung, Lesbarkeit und einen dokumentierten Komponentenbaum geachtet, und es gibt ein eigenes Testprojekt mit xUnit, das die Logik absichert.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 Projekt lief von Anfang Mai bis Anfang Juli 2026 mit wöchentlichen Status-Updates. Es ist vollständig dokumentiert: Projektauftrag, Lasten- und Pflichtenheft, Projekthandbuch, Benutzerhandbuch und mehrere Statusberichte. Heute, am 24. Juni, ist die Kern-App lauffähig - die drei Features, Workspaces, Echtzeit und die Usersysteme stehen. Bis zum Projektende am 1. Juli geht es um Feinschliff und Abschluss der Doku.</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Ausblick zeigt, warum der erweiterbare Aufbau so wichtig war: kuenftige Features sind schlicht neue Module, die man andockt - ein Whiteboard, Dateiablage oder Tabellen zum Beispiel. Daneben Themen wie bessere Responsiveness, feinere Rollen und Rechte in Workspaces, Benachrichtigungen, skalierbares Cloud-Hosting und weitere Themes. Die Idee war nie eine fertige, geschlossene App, sondern eine Basis, die mitwächst.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Damit bin ich am Ende. Zusammengefasst: Lumify bündelt Notizen, Todos und Events in gekapselten, erweiterbaren Spaces, mit echter Echtzeit-Zusammenarbeit auf einem modernen Next.js-/.NET-Stack. Vielen Dank fürs Zuhören - ich beantworte gerne Fragen oder zeige die App kurz live.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3931920" y="731520"/>
            <a:ext cx="4389120" cy="3291840"/>
          </a:xfrm>
          <a:prstGeom prst="ellipse">
            <a:avLst/>
          </a:prstGeom>
          <a:solidFill>
            <a:srgbClr val="FFA228">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057400"/>
            <a:ext cx="10332720" cy="2011680"/>
          </a:xfrm>
          <a:prstGeom prst="rect">
            <a:avLst/>
          </a:prstGeom>
          <a:noFill/>
        </p:spPr>
        <p:txBody>
          <a:bodyPr wrap="square" lIns="45720" tIns="18288" rIns="45720" bIns="18288" anchor="ctr">
            <a:spAutoFit/>
          </a:bodyPr>
          <a:lstStyle/>
          <a:p>
            <a:pPr algn="ctr">
              <a:spcBef>
                <a:spcPts val="0"/>
              </a:spcBef>
              <a:spcAft>
                <a:spcPts val="200"/>
              </a:spcAft>
            </a:pPr>
            <a:r>
              <a:rPr sz="8000" b="1" i="0">
                <a:solidFill>
                  <a:srgbClr val="F1EDE6"/>
                </a:solidFill>
                <a:latin typeface="Trebuchet MS"/>
              </a:rPr>
              <a:t>Lumify</a:t>
            </a:r>
          </a:p>
          <a:p>
            <a:pPr algn="ctr">
              <a:spcBef>
                <a:spcPts val="0"/>
              </a:spcBef>
              <a:spcAft>
                <a:spcPts val="0"/>
              </a:spcAft>
            </a:pPr>
            <a:r>
              <a:rPr sz="2600" b="0" i="1">
                <a:solidFill>
                  <a:srgbClr val="76E3F1"/>
                </a:solidFill>
                <a:latin typeface="Trebuchet MS"/>
              </a:rPr>
              <a:t>Bring clarity into your life</a:t>
            </a:r>
          </a:p>
        </p:txBody>
      </p:sp>
      <p:sp>
        <p:nvSpPr>
          <p:cNvPr id="7" name="Rectangle 6"/>
          <p:cNvSpPr/>
          <p:nvPr/>
        </p:nvSpPr>
        <p:spPr>
          <a:xfrm>
            <a:off x="4937760" y="4343400"/>
            <a:ext cx="2286000" cy="25400"/>
          </a:xfrm>
          <a:prstGeom prst="rect">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572000"/>
            <a:ext cx="10332720" cy="1463040"/>
          </a:xfrm>
          <a:prstGeom prst="rect">
            <a:avLst/>
          </a:prstGeom>
          <a:noFill/>
        </p:spPr>
        <p:txBody>
          <a:bodyPr wrap="square" lIns="45720" tIns="18288" rIns="45720" bIns="18288" anchor="t">
            <a:spAutoFit/>
          </a:bodyPr>
          <a:lstStyle/>
          <a:p>
            <a:pPr algn="ctr">
              <a:spcBef>
                <a:spcPts val="0"/>
              </a:spcBef>
              <a:spcAft>
                <a:spcPts val="1000"/>
              </a:spcAft>
            </a:pPr>
            <a:r>
              <a:rPr sz="1800" b="1" i="0">
                <a:solidFill>
                  <a:srgbClr val="F1EDE6"/>
                </a:solidFill>
                <a:latin typeface="Trebuchet MS"/>
              </a:rPr>
              <a:t>Teambasierter Alltags- &amp; Projektplaner</a:t>
            </a:r>
          </a:p>
          <a:p>
            <a:pPr algn="ctr">
              <a:spcBef>
                <a:spcPts val="0"/>
              </a:spcBef>
              <a:spcAft>
                <a:spcPts val="0"/>
              </a:spcAft>
            </a:pPr>
            <a:r>
              <a:rPr sz="1400" b="1" i="0">
                <a:solidFill>
                  <a:srgbClr val="F1EDE6"/>
                </a:solidFill>
                <a:latin typeface="Trebuchet MS"/>
              </a:rPr>
              <a:t>Christian Riepl</a:t>
            </a:r>
            <a:r>
              <a:rPr sz="1400" b="0" i="0">
                <a:solidFill>
                  <a:srgbClr val="B9AFD6"/>
                </a:solidFill>
                <a:latin typeface="Trebuchet MS"/>
              </a:rPr>
              <a:t>   ·   Klasse 4Ie   ·   Schuljahr 2025/26   ·   LBS4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WAS EUCH ERWARTET</a:t>
            </a:r>
          </a:p>
          <a:p>
            <a:pPr algn="l">
              <a:spcBef>
                <a:spcPts val="0"/>
              </a:spcBef>
              <a:spcAft>
                <a:spcPts val="0"/>
              </a:spcAft>
            </a:pPr>
            <a:r>
              <a:rPr sz="3200" b="1" i="0">
                <a:solidFill>
                  <a:srgbClr val="F1EDE6"/>
                </a:solidFill>
                <a:latin typeface="Trebuchet MS"/>
              </a:rPr>
              <a:t>Agenda</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2</a:t>
            </a:r>
          </a:p>
        </p:txBody>
      </p:sp>
      <p:sp>
        <p:nvSpPr>
          <p:cNvPr id="9" name="Rounded Rectangle 8"/>
          <p:cNvSpPr/>
          <p:nvPr/>
        </p:nvSpPr>
        <p:spPr>
          <a:xfrm>
            <a:off x="868680" y="1554480"/>
            <a:ext cx="5029200" cy="914400"/>
          </a:xfrm>
          <a:prstGeom prst="roundRect">
            <a:avLst>
              <a:gd name="adj" fmla="val 12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1609344"/>
            <a:ext cx="914400" cy="822960"/>
          </a:xfrm>
          <a:prstGeom prst="rect">
            <a:avLst/>
          </a:prstGeom>
          <a:noFill/>
        </p:spPr>
        <p:txBody>
          <a:bodyPr wrap="square" lIns="45720" tIns="18288" rIns="45720" bIns="18288" anchor="ctr">
            <a:spAutoFit/>
          </a:bodyPr>
          <a:lstStyle/>
          <a:p>
            <a:pPr algn="l">
              <a:spcBef>
                <a:spcPts val="0"/>
              </a:spcBef>
              <a:spcAft>
                <a:spcPts val="0"/>
              </a:spcAft>
            </a:pPr>
            <a:r>
              <a:rPr sz="3000" b="1" i="0">
                <a:solidFill>
                  <a:srgbClr val="76E3F1"/>
                </a:solidFill>
                <a:latin typeface="Trebuchet MS"/>
              </a:rPr>
              <a:t>01</a:t>
            </a:r>
          </a:p>
        </p:txBody>
      </p:sp>
      <p:sp>
        <p:nvSpPr>
          <p:cNvPr id="11" name="TextBox 10"/>
          <p:cNvSpPr txBox="1"/>
          <p:nvPr/>
        </p:nvSpPr>
        <p:spPr>
          <a:xfrm>
            <a:off x="1920240" y="1664208"/>
            <a:ext cx="3840480" cy="731520"/>
          </a:xfrm>
          <a:prstGeom prst="rect">
            <a:avLst/>
          </a:prstGeom>
          <a:noFill/>
        </p:spPr>
        <p:txBody>
          <a:bodyPr wrap="square" lIns="45720" tIns="18288" rIns="45720" bIns="18288" anchor="ctr">
            <a:spAutoFit/>
          </a:bodyPr>
          <a:lstStyle/>
          <a:p>
            <a:pPr algn="l">
              <a:spcBef>
                <a:spcPts val="0"/>
              </a:spcBef>
              <a:spcAft>
                <a:spcPts val="100"/>
              </a:spcAft>
            </a:pPr>
            <a:r>
              <a:rPr sz="1600" b="1" i="0">
                <a:solidFill>
                  <a:srgbClr val="F1EDE6"/>
                </a:solidFill>
                <a:latin typeface="Trebuchet MS"/>
              </a:rPr>
              <a:t>Was ist Lumify?</a:t>
            </a:r>
          </a:p>
          <a:p>
            <a:pPr algn="l">
              <a:spcBef>
                <a:spcPts val="0"/>
              </a:spcBef>
              <a:spcAft>
                <a:spcPts val="0"/>
              </a:spcAft>
            </a:pPr>
            <a:r>
              <a:rPr sz="1150" b="0" i="0">
                <a:solidFill>
                  <a:srgbClr val="B9AFD6"/>
                </a:solidFill>
                <a:latin typeface="Trebuchet MS"/>
              </a:rPr>
              <a:t>Idee &amp; Vision in einem Satz</a:t>
            </a:r>
          </a:p>
        </p:txBody>
      </p:sp>
      <p:sp>
        <p:nvSpPr>
          <p:cNvPr id="12" name="Rounded Rectangle 11"/>
          <p:cNvSpPr/>
          <p:nvPr/>
        </p:nvSpPr>
        <p:spPr>
          <a:xfrm>
            <a:off x="868680" y="2633472"/>
            <a:ext cx="5029200" cy="914400"/>
          </a:xfrm>
          <a:prstGeom prst="roundRect">
            <a:avLst>
              <a:gd name="adj" fmla="val 12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2688336"/>
            <a:ext cx="914400" cy="822960"/>
          </a:xfrm>
          <a:prstGeom prst="rect">
            <a:avLst/>
          </a:prstGeom>
          <a:noFill/>
        </p:spPr>
        <p:txBody>
          <a:bodyPr wrap="square" lIns="45720" tIns="18288" rIns="45720" bIns="18288" anchor="ctr">
            <a:spAutoFit/>
          </a:bodyPr>
          <a:lstStyle/>
          <a:p>
            <a:pPr algn="l">
              <a:spcBef>
                <a:spcPts val="0"/>
              </a:spcBef>
              <a:spcAft>
                <a:spcPts val="0"/>
              </a:spcAft>
            </a:pPr>
            <a:r>
              <a:rPr sz="3000" b="1" i="0">
                <a:solidFill>
                  <a:srgbClr val="76E3F1"/>
                </a:solidFill>
                <a:latin typeface="Trebuchet MS"/>
              </a:rPr>
              <a:t>02</a:t>
            </a:r>
          </a:p>
        </p:txBody>
      </p:sp>
      <p:sp>
        <p:nvSpPr>
          <p:cNvPr id="14" name="TextBox 13"/>
          <p:cNvSpPr txBox="1"/>
          <p:nvPr/>
        </p:nvSpPr>
        <p:spPr>
          <a:xfrm>
            <a:off x="1920240" y="2743200"/>
            <a:ext cx="3840480" cy="731520"/>
          </a:xfrm>
          <a:prstGeom prst="rect">
            <a:avLst/>
          </a:prstGeom>
          <a:noFill/>
        </p:spPr>
        <p:txBody>
          <a:bodyPr wrap="square" lIns="45720" tIns="18288" rIns="45720" bIns="18288" anchor="ctr">
            <a:spAutoFit/>
          </a:bodyPr>
          <a:lstStyle/>
          <a:p>
            <a:pPr algn="l">
              <a:spcBef>
                <a:spcPts val="0"/>
              </a:spcBef>
              <a:spcAft>
                <a:spcPts val="100"/>
              </a:spcAft>
            </a:pPr>
            <a:r>
              <a:rPr sz="1600" b="1" i="0">
                <a:solidFill>
                  <a:srgbClr val="F1EDE6"/>
                </a:solidFill>
                <a:latin typeface="Trebuchet MS"/>
              </a:rPr>
              <a:t>Problem &amp; Lösung</a:t>
            </a:r>
          </a:p>
          <a:p>
            <a:pPr algn="l">
              <a:spcBef>
                <a:spcPts val="0"/>
              </a:spcBef>
              <a:spcAft>
                <a:spcPts val="0"/>
              </a:spcAft>
            </a:pPr>
            <a:r>
              <a:rPr sz="1150" b="0" i="0">
                <a:solidFill>
                  <a:srgbClr val="B9AFD6"/>
                </a:solidFill>
                <a:latin typeface="Trebuchet MS"/>
              </a:rPr>
              <a:t>Warum es Lumify braucht</a:t>
            </a:r>
          </a:p>
        </p:txBody>
      </p:sp>
      <p:sp>
        <p:nvSpPr>
          <p:cNvPr id="15" name="Rounded Rectangle 14"/>
          <p:cNvSpPr/>
          <p:nvPr/>
        </p:nvSpPr>
        <p:spPr>
          <a:xfrm>
            <a:off x="868680" y="3712464"/>
            <a:ext cx="5029200" cy="914400"/>
          </a:xfrm>
          <a:prstGeom prst="roundRect">
            <a:avLst>
              <a:gd name="adj" fmla="val 12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3767328"/>
            <a:ext cx="914400" cy="822960"/>
          </a:xfrm>
          <a:prstGeom prst="rect">
            <a:avLst/>
          </a:prstGeom>
          <a:noFill/>
        </p:spPr>
        <p:txBody>
          <a:bodyPr wrap="square" lIns="45720" tIns="18288" rIns="45720" bIns="18288" anchor="ctr">
            <a:spAutoFit/>
          </a:bodyPr>
          <a:lstStyle/>
          <a:p>
            <a:pPr algn="l">
              <a:spcBef>
                <a:spcPts val="0"/>
              </a:spcBef>
              <a:spcAft>
                <a:spcPts val="0"/>
              </a:spcAft>
            </a:pPr>
            <a:r>
              <a:rPr sz="3000" b="1" i="0">
                <a:solidFill>
                  <a:srgbClr val="76E3F1"/>
                </a:solidFill>
                <a:latin typeface="Trebuchet MS"/>
              </a:rPr>
              <a:t>03</a:t>
            </a:r>
          </a:p>
        </p:txBody>
      </p:sp>
      <p:sp>
        <p:nvSpPr>
          <p:cNvPr id="17" name="TextBox 16"/>
          <p:cNvSpPr txBox="1"/>
          <p:nvPr/>
        </p:nvSpPr>
        <p:spPr>
          <a:xfrm>
            <a:off x="1920240" y="3822192"/>
            <a:ext cx="3840480" cy="731520"/>
          </a:xfrm>
          <a:prstGeom prst="rect">
            <a:avLst/>
          </a:prstGeom>
          <a:noFill/>
        </p:spPr>
        <p:txBody>
          <a:bodyPr wrap="square" lIns="45720" tIns="18288" rIns="45720" bIns="18288" anchor="ctr">
            <a:spAutoFit/>
          </a:bodyPr>
          <a:lstStyle/>
          <a:p>
            <a:pPr algn="l">
              <a:spcBef>
                <a:spcPts val="0"/>
              </a:spcBef>
              <a:spcAft>
                <a:spcPts val="100"/>
              </a:spcAft>
            </a:pPr>
            <a:r>
              <a:rPr sz="1600" b="1" i="0">
                <a:solidFill>
                  <a:srgbClr val="F1EDE6"/>
                </a:solidFill>
                <a:latin typeface="Trebuchet MS"/>
              </a:rPr>
              <a:t>Konzept: Spaces &amp; Workspaces</a:t>
            </a:r>
          </a:p>
          <a:p>
            <a:pPr algn="l">
              <a:spcBef>
                <a:spcPts val="0"/>
              </a:spcBef>
              <a:spcAft>
                <a:spcPts val="0"/>
              </a:spcAft>
            </a:pPr>
            <a:r>
              <a:rPr sz="1150" b="0" i="0">
                <a:solidFill>
                  <a:srgbClr val="B9AFD6"/>
                </a:solidFill>
                <a:latin typeface="Trebuchet MS"/>
              </a:rPr>
              <a:t>Gekapselte, erweiterbare Bereiche</a:t>
            </a:r>
          </a:p>
        </p:txBody>
      </p:sp>
      <p:sp>
        <p:nvSpPr>
          <p:cNvPr id="18" name="Rounded Rectangle 17"/>
          <p:cNvSpPr/>
          <p:nvPr/>
        </p:nvSpPr>
        <p:spPr>
          <a:xfrm>
            <a:off x="868680" y="4791456"/>
            <a:ext cx="5029200" cy="914400"/>
          </a:xfrm>
          <a:prstGeom prst="roundRect">
            <a:avLst>
              <a:gd name="adj" fmla="val 12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4846320"/>
            <a:ext cx="914400" cy="822960"/>
          </a:xfrm>
          <a:prstGeom prst="rect">
            <a:avLst/>
          </a:prstGeom>
          <a:noFill/>
        </p:spPr>
        <p:txBody>
          <a:bodyPr wrap="square" lIns="45720" tIns="18288" rIns="45720" bIns="18288" anchor="ctr">
            <a:spAutoFit/>
          </a:bodyPr>
          <a:lstStyle/>
          <a:p>
            <a:pPr algn="l">
              <a:spcBef>
                <a:spcPts val="0"/>
              </a:spcBef>
              <a:spcAft>
                <a:spcPts val="0"/>
              </a:spcAft>
            </a:pPr>
            <a:r>
              <a:rPr sz="3000" b="1" i="0">
                <a:solidFill>
                  <a:srgbClr val="76E3F1"/>
                </a:solidFill>
                <a:latin typeface="Trebuchet MS"/>
              </a:rPr>
              <a:t>04</a:t>
            </a:r>
          </a:p>
        </p:txBody>
      </p:sp>
      <p:sp>
        <p:nvSpPr>
          <p:cNvPr id="20" name="TextBox 19"/>
          <p:cNvSpPr txBox="1"/>
          <p:nvPr/>
        </p:nvSpPr>
        <p:spPr>
          <a:xfrm>
            <a:off x="1920240" y="4901184"/>
            <a:ext cx="3840480" cy="731520"/>
          </a:xfrm>
          <a:prstGeom prst="rect">
            <a:avLst/>
          </a:prstGeom>
          <a:noFill/>
        </p:spPr>
        <p:txBody>
          <a:bodyPr wrap="square" lIns="45720" tIns="18288" rIns="45720" bIns="18288" anchor="ctr">
            <a:spAutoFit/>
          </a:bodyPr>
          <a:lstStyle/>
          <a:p>
            <a:pPr algn="l">
              <a:spcBef>
                <a:spcPts val="0"/>
              </a:spcBef>
              <a:spcAft>
                <a:spcPts val="100"/>
              </a:spcAft>
            </a:pPr>
            <a:r>
              <a:rPr sz="1600" b="1" i="0">
                <a:solidFill>
                  <a:srgbClr val="F1EDE6"/>
                </a:solidFill>
                <a:latin typeface="Trebuchet MS"/>
              </a:rPr>
              <a:t>Die Features</a:t>
            </a:r>
          </a:p>
          <a:p>
            <a:pPr algn="l">
              <a:spcBef>
                <a:spcPts val="0"/>
              </a:spcBef>
              <a:spcAft>
                <a:spcPts val="0"/>
              </a:spcAft>
            </a:pPr>
            <a:r>
              <a:rPr sz="1150" b="0" i="0">
                <a:solidFill>
                  <a:srgbClr val="B9AFD6"/>
                </a:solidFill>
                <a:latin typeface="Trebuchet MS"/>
              </a:rPr>
              <a:t>Notizen · Todos · Events</a:t>
            </a:r>
          </a:p>
        </p:txBody>
      </p:sp>
      <p:sp>
        <p:nvSpPr>
          <p:cNvPr id="21" name="Rounded Rectangle 20"/>
          <p:cNvSpPr/>
          <p:nvPr/>
        </p:nvSpPr>
        <p:spPr>
          <a:xfrm>
            <a:off x="6400800" y="1554480"/>
            <a:ext cx="5029200" cy="914400"/>
          </a:xfrm>
          <a:prstGeom prst="roundRect">
            <a:avLst>
              <a:gd name="adj" fmla="val 12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1609344"/>
            <a:ext cx="914400" cy="822960"/>
          </a:xfrm>
          <a:prstGeom prst="rect">
            <a:avLst/>
          </a:prstGeom>
          <a:noFill/>
        </p:spPr>
        <p:txBody>
          <a:bodyPr wrap="square" lIns="45720" tIns="18288" rIns="45720" bIns="18288" anchor="ctr">
            <a:spAutoFit/>
          </a:bodyPr>
          <a:lstStyle/>
          <a:p>
            <a:pPr algn="l">
              <a:spcBef>
                <a:spcPts val="0"/>
              </a:spcBef>
              <a:spcAft>
                <a:spcPts val="0"/>
              </a:spcAft>
            </a:pPr>
            <a:r>
              <a:rPr sz="3000" b="1" i="0">
                <a:solidFill>
                  <a:srgbClr val="76E3F1"/>
                </a:solidFill>
                <a:latin typeface="Trebuchet MS"/>
              </a:rPr>
              <a:t>05</a:t>
            </a:r>
          </a:p>
        </p:txBody>
      </p:sp>
      <p:sp>
        <p:nvSpPr>
          <p:cNvPr id="23" name="TextBox 22"/>
          <p:cNvSpPr txBox="1"/>
          <p:nvPr/>
        </p:nvSpPr>
        <p:spPr>
          <a:xfrm>
            <a:off x="7452360" y="1664208"/>
            <a:ext cx="3840480" cy="731520"/>
          </a:xfrm>
          <a:prstGeom prst="rect">
            <a:avLst/>
          </a:prstGeom>
          <a:noFill/>
        </p:spPr>
        <p:txBody>
          <a:bodyPr wrap="square" lIns="45720" tIns="18288" rIns="45720" bIns="18288" anchor="ctr">
            <a:spAutoFit/>
          </a:bodyPr>
          <a:lstStyle/>
          <a:p>
            <a:pPr algn="l">
              <a:spcBef>
                <a:spcPts val="0"/>
              </a:spcBef>
              <a:spcAft>
                <a:spcPts val="100"/>
              </a:spcAft>
            </a:pPr>
            <a:r>
              <a:rPr sz="1600" b="1" i="0">
                <a:solidFill>
                  <a:srgbClr val="F1EDE6"/>
                </a:solidFill>
                <a:latin typeface="Trebuchet MS"/>
              </a:rPr>
              <a:t>Live-Zusammenarbeit</a:t>
            </a:r>
          </a:p>
          <a:p>
            <a:pPr algn="l">
              <a:spcBef>
                <a:spcPts val="0"/>
              </a:spcBef>
              <a:spcAft>
                <a:spcPts val="0"/>
              </a:spcAft>
            </a:pPr>
            <a:r>
              <a:rPr sz="1150" b="0" i="0">
                <a:solidFill>
                  <a:srgbClr val="B9AFD6"/>
                </a:solidFill>
                <a:latin typeface="Trebuchet MS"/>
              </a:rPr>
              <a:t>Echtzeit &amp; Usersysteme</a:t>
            </a:r>
          </a:p>
        </p:txBody>
      </p:sp>
      <p:sp>
        <p:nvSpPr>
          <p:cNvPr id="24" name="Rounded Rectangle 23"/>
          <p:cNvSpPr/>
          <p:nvPr/>
        </p:nvSpPr>
        <p:spPr>
          <a:xfrm>
            <a:off x="6400800" y="2633472"/>
            <a:ext cx="5029200" cy="914400"/>
          </a:xfrm>
          <a:prstGeom prst="roundRect">
            <a:avLst>
              <a:gd name="adj" fmla="val 12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2688336"/>
            <a:ext cx="914400" cy="822960"/>
          </a:xfrm>
          <a:prstGeom prst="rect">
            <a:avLst/>
          </a:prstGeom>
          <a:noFill/>
        </p:spPr>
        <p:txBody>
          <a:bodyPr wrap="square" lIns="45720" tIns="18288" rIns="45720" bIns="18288" anchor="ctr">
            <a:spAutoFit/>
          </a:bodyPr>
          <a:lstStyle/>
          <a:p>
            <a:pPr algn="l">
              <a:spcBef>
                <a:spcPts val="0"/>
              </a:spcBef>
              <a:spcAft>
                <a:spcPts val="0"/>
              </a:spcAft>
            </a:pPr>
            <a:r>
              <a:rPr sz="3000" b="1" i="0">
                <a:solidFill>
                  <a:srgbClr val="76E3F1"/>
                </a:solidFill>
                <a:latin typeface="Trebuchet MS"/>
              </a:rPr>
              <a:t>06</a:t>
            </a:r>
          </a:p>
        </p:txBody>
      </p:sp>
      <p:sp>
        <p:nvSpPr>
          <p:cNvPr id="26" name="TextBox 25"/>
          <p:cNvSpPr txBox="1"/>
          <p:nvPr/>
        </p:nvSpPr>
        <p:spPr>
          <a:xfrm>
            <a:off x="7452360" y="2743200"/>
            <a:ext cx="3840480" cy="731520"/>
          </a:xfrm>
          <a:prstGeom prst="rect">
            <a:avLst/>
          </a:prstGeom>
          <a:noFill/>
        </p:spPr>
        <p:txBody>
          <a:bodyPr wrap="square" lIns="45720" tIns="18288" rIns="45720" bIns="18288" anchor="ctr">
            <a:spAutoFit/>
          </a:bodyPr>
          <a:lstStyle/>
          <a:p>
            <a:pPr algn="l">
              <a:spcBef>
                <a:spcPts val="0"/>
              </a:spcBef>
              <a:spcAft>
                <a:spcPts val="100"/>
              </a:spcAft>
            </a:pPr>
            <a:r>
              <a:rPr sz="1600" b="1" i="0">
                <a:solidFill>
                  <a:srgbClr val="F1EDE6"/>
                </a:solidFill>
                <a:latin typeface="Trebuchet MS"/>
              </a:rPr>
              <a:t>Technik &amp; Architektur</a:t>
            </a:r>
          </a:p>
          <a:p>
            <a:pPr algn="l">
              <a:spcBef>
                <a:spcPts val="0"/>
              </a:spcBef>
              <a:spcAft>
                <a:spcPts val="0"/>
              </a:spcAft>
            </a:pPr>
            <a:r>
              <a:rPr sz="1150" b="0" i="0">
                <a:solidFill>
                  <a:srgbClr val="B9AFD6"/>
                </a:solidFill>
                <a:latin typeface="Trebuchet MS"/>
              </a:rPr>
              <a:t>Stack, API, Datenbank</a:t>
            </a:r>
          </a:p>
        </p:txBody>
      </p:sp>
      <p:sp>
        <p:nvSpPr>
          <p:cNvPr id="27" name="Rounded Rectangle 26"/>
          <p:cNvSpPr/>
          <p:nvPr/>
        </p:nvSpPr>
        <p:spPr>
          <a:xfrm>
            <a:off x="6400800" y="3712464"/>
            <a:ext cx="5029200" cy="914400"/>
          </a:xfrm>
          <a:prstGeom prst="roundRect">
            <a:avLst>
              <a:gd name="adj" fmla="val 12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83680" y="3767328"/>
            <a:ext cx="914400" cy="822960"/>
          </a:xfrm>
          <a:prstGeom prst="rect">
            <a:avLst/>
          </a:prstGeom>
          <a:noFill/>
        </p:spPr>
        <p:txBody>
          <a:bodyPr wrap="square" lIns="45720" tIns="18288" rIns="45720" bIns="18288" anchor="ctr">
            <a:spAutoFit/>
          </a:bodyPr>
          <a:lstStyle/>
          <a:p>
            <a:pPr algn="l">
              <a:spcBef>
                <a:spcPts val="0"/>
              </a:spcBef>
              <a:spcAft>
                <a:spcPts val="0"/>
              </a:spcAft>
            </a:pPr>
            <a:r>
              <a:rPr sz="3000" b="1" i="0">
                <a:solidFill>
                  <a:srgbClr val="76E3F1"/>
                </a:solidFill>
                <a:latin typeface="Trebuchet MS"/>
              </a:rPr>
              <a:t>07</a:t>
            </a:r>
          </a:p>
        </p:txBody>
      </p:sp>
      <p:sp>
        <p:nvSpPr>
          <p:cNvPr id="29" name="TextBox 28"/>
          <p:cNvSpPr txBox="1"/>
          <p:nvPr/>
        </p:nvSpPr>
        <p:spPr>
          <a:xfrm>
            <a:off x="7452360" y="3822192"/>
            <a:ext cx="3840480" cy="731520"/>
          </a:xfrm>
          <a:prstGeom prst="rect">
            <a:avLst/>
          </a:prstGeom>
          <a:noFill/>
        </p:spPr>
        <p:txBody>
          <a:bodyPr wrap="square" lIns="45720" tIns="18288" rIns="45720" bIns="18288" anchor="ctr">
            <a:spAutoFit/>
          </a:bodyPr>
          <a:lstStyle/>
          <a:p>
            <a:pPr algn="l">
              <a:spcBef>
                <a:spcPts val="0"/>
              </a:spcBef>
              <a:spcAft>
                <a:spcPts val="100"/>
              </a:spcAft>
            </a:pPr>
            <a:r>
              <a:rPr sz="1600" b="1" i="0">
                <a:solidFill>
                  <a:srgbClr val="F1EDE6"/>
                </a:solidFill>
                <a:latin typeface="Trebuchet MS"/>
              </a:rPr>
              <a:t>Projektablauf &amp; Ausblick</a:t>
            </a:r>
          </a:p>
          <a:p>
            <a:pPr algn="l">
              <a:spcBef>
                <a:spcPts val="0"/>
              </a:spcBef>
              <a:spcAft>
                <a:spcPts val="0"/>
              </a:spcAft>
            </a:pPr>
            <a:r>
              <a:rPr sz="1150" b="0" i="0">
                <a:solidFill>
                  <a:srgbClr val="B9AFD6"/>
                </a:solidFill>
                <a:latin typeface="Trebuchet MS"/>
              </a:rPr>
              <a:t>Doku, Stand, nächste Schritte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DIE IDEE IN EINEM SATZ</a:t>
            </a:r>
          </a:p>
          <a:p>
            <a:pPr algn="l">
              <a:spcBef>
                <a:spcPts val="0"/>
              </a:spcBef>
              <a:spcAft>
                <a:spcPts val="0"/>
              </a:spcAft>
            </a:pPr>
            <a:r>
              <a:rPr sz="3200" b="1" i="0">
                <a:solidFill>
                  <a:srgbClr val="F1EDE6"/>
                </a:solidFill>
                <a:latin typeface="Trebuchet MS"/>
              </a:rPr>
              <a:t>Was ist Lumify?</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3</a:t>
            </a:r>
          </a:p>
        </p:txBody>
      </p:sp>
      <p:sp>
        <p:nvSpPr>
          <p:cNvPr id="9" name="Rounded Rectangle 8"/>
          <p:cNvSpPr/>
          <p:nvPr/>
        </p:nvSpPr>
        <p:spPr>
          <a:xfrm>
            <a:off x="868680" y="1600200"/>
            <a:ext cx="10424160" cy="1737360"/>
          </a:xfrm>
          <a:prstGeom prst="roundRect">
            <a:avLst>
              <a:gd name="adj" fmla="val 6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43000" y="1874519"/>
            <a:ext cx="82296" cy="1188720"/>
          </a:xfrm>
          <a:prstGeom prst="roundRect">
            <a:avLst>
              <a:gd name="adj" fmla="val 50000"/>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63040" y="1783080"/>
            <a:ext cx="9509760" cy="1463040"/>
          </a:xfrm>
          <a:prstGeom prst="rect">
            <a:avLst/>
          </a:prstGeom>
          <a:noFill/>
        </p:spPr>
        <p:txBody>
          <a:bodyPr wrap="square" lIns="45720" tIns="18288" rIns="45720" bIns="18288" anchor="ctr">
            <a:spAutoFit/>
          </a:bodyPr>
          <a:lstStyle/>
          <a:p>
            <a:pPr algn="l">
              <a:spcBef>
                <a:spcPts val="0"/>
              </a:spcBef>
              <a:spcAft>
                <a:spcPts val="0"/>
              </a:spcAft>
            </a:pPr>
            <a:r>
              <a:rPr sz="2200" b="0" i="0">
                <a:solidFill>
                  <a:srgbClr val="F1EDE6"/>
                </a:solidFill>
                <a:latin typeface="Trebuchet MS"/>
              </a:rPr>
              <a:t>Eine Web-App, die Planungs- und Strukturierungs-Werkzeuge </a:t>
            </a:r>
            <a:r>
              <a:rPr sz="2200" b="1" i="0">
                <a:solidFill>
                  <a:srgbClr val="76E3F1"/>
                </a:solidFill>
                <a:latin typeface="Trebuchet MS"/>
              </a:rPr>
              <a:t>bündelt</a:t>
            </a:r>
            <a:r>
              <a:rPr sz="2200" b="0" i="0">
                <a:solidFill>
                  <a:srgbClr val="F1EDE6"/>
                </a:solidFill>
                <a:latin typeface="Trebuchet MS"/>
              </a:rPr>
              <a:t> und Teams </a:t>
            </a:r>
            <a:r>
              <a:rPr sz="2200" b="1" i="0">
                <a:solidFill>
                  <a:srgbClr val="FFA228"/>
                </a:solidFill>
                <a:latin typeface="Trebuchet MS"/>
              </a:rPr>
              <a:t>in Echtzeit</a:t>
            </a:r>
            <a:r>
              <a:rPr sz="2200" b="0" i="0">
                <a:solidFill>
                  <a:srgbClr val="F1EDE6"/>
                </a:solidFill>
                <a:latin typeface="Trebuchet MS"/>
              </a:rPr>
              <a:t> zusammenarbeiten laesst.</a:t>
            </a:r>
          </a:p>
        </p:txBody>
      </p:sp>
      <p:sp>
        <p:nvSpPr>
          <p:cNvPr id="12" name="Rounded Rectangle 11"/>
          <p:cNvSpPr/>
          <p:nvPr/>
        </p:nvSpPr>
        <p:spPr>
          <a:xfrm>
            <a:off x="868680" y="3657600"/>
            <a:ext cx="3383280" cy="2194560"/>
          </a:xfrm>
          <a:prstGeom prst="roundRect">
            <a:avLst>
              <a:gd name="adj" fmla="val 8000"/>
            </a:avLst>
          </a:prstGeom>
          <a:solidFill>
            <a:srgbClr val="2B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88720" y="3977639"/>
            <a:ext cx="502920" cy="502920"/>
          </a:xfrm>
          <a:prstGeom prst="ellipse">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4617720"/>
            <a:ext cx="2743200" cy="1188720"/>
          </a:xfrm>
          <a:prstGeom prst="rect">
            <a:avLst/>
          </a:prstGeom>
          <a:noFill/>
        </p:spPr>
        <p:txBody>
          <a:bodyPr wrap="square" lIns="45720" tIns="18288" rIns="45720" bIns="18288" anchor="t">
            <a:spAutoFit/>
          </a:bodyPr>
          <a:lstStyle/>
          <a:p>
            <a:pPr algn="l">
              <a:spcBef>
                <a:spcPts val="0"/>
              </a:spcBef>
              <a:spcAft>
                <a:spcPts val="400"/>
              </a:spcAft>
            </a:pPr>
            <a:r>
              <a:rPr sz="1900" b="1" i="0">
                <a:solidFill>
                  <a:srgbClr val="F1EDE6"/>
                </a:solidFill>
                <a:latin typeface="Trebuchet MS"/>
              </a:rPr>
              <a:t>Persoenlich</a:t>
            </a:r>
          </a:p>
          <a:p>
            <a:pPr algn="l">
              <a:spcBef>
                <a:spcPts val="0"/>
              </a:spcBef>
              <a:spcAft>
                <a:spcPts val="0"/>
              </a:spcAft>
            </a:pPr>
            <a:r>
              <a:rPr sz="1350" b="0" i="0">
                <a:solidFill>
                  <a:srgbClr val="B9AFD6"/>
                </a:solidFill>
                <a:latin typeface="Trebuchet MS"/>
              </a:rPr>
              <a:t>Eigener privater Space für den Alltag</a:t>
            </a:r>
          </a:p>
        </p:txBody>
      </p:sp>
      <p:sp>
        <p:nvSpPr>
          <p:cNvPr id="15" name="Rounded Rectangle 14"/>
          <p:cNvSpPr/>
          <p:nvPr/>
        </p:nvSpPr>
        <p:spPr>
          <a:xfrm>
            <a:off x="4462272" y="3657600"/>
            <a:ext cx="3383280" cy="2194560"/>
          </a:xfrm>
          <a:prstGeom prst="roundRect">
            <a:avLst>
              <a:gd name="adj" fmla="val 8000"/>
            </a:avLst>
          </a:prstGeom>
          <a:solidFill>
            <a:srgbClr val="2B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782312" y="3977639"/>
            <a:ext cx="502920" cy="502920"/>
          </a:xfrm>
          <a:prstGeom prst="ellipse">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82312" y="4617720"/>
            <a:ext cx="2743200" cy="1188720"/>
          </a:xfrm>
          <a:prstGeom prst="rect">
            <a:avLst/>
          </a:prstGeom>
          <a:noFill/>
        </p:spPr>
        <p:txBody>
          <a:bodyPr wrap="square" lIns="45720" tIns="18288" rIns="45720" bIns="18288" anchor="t">
            <a:spAutoFit/>
          </a:bodyPr>
          <a:lstStyle/>
          <a:p>
            <a:pPr algn="l">
              <a:spcBef>
                <a:spcPts val="0"/>
              </a:spcBef>
              <a:spcAft>
                <a:spcPts val="400"/>
              </a:spcAft>
            </a:pPr>
            <a:r>
              <a:rPr sz="1900" b="1" i="0">
                <a:solidFill>
                  <a:srgbClr val="F1EDE6"/>
                </a:solidFill>
                <a:latin typeface="Trebuchet MS"/>
              </a:rPr>
              <a:t>Im Team</a:t>
            </a:r>
          </a:p>
          <a:p>
            <a:pPr algn="l">
              <a:spcBef>
                <a:spcPts val="0"/>
              </a:spcBef>
              <a:spcAft>
                <a:spcPts val="0"/>
              </a:spcAft>
            </a:pPr>
            <a:r>
              <a:rPr sz="1350" b="0" i="0">
                <a:solidFill>
                  <a:srgbClr val="B9AFD6"/>
                </a:solidFill>
                <a:latin typeface="Trebuchet MS"/>
              </a:rPr>
              <a:t>Gemeinsame Workspaces mit Mitgliedern</a:t>
            </a:r>
          </a:p>
        </p:txBody>
      </p:sp>
      <p:sp>
        <p:nvSpPr>
          <p:cNvPr id="18" name="Rounded Rectangle 17"/>
          <p:cNvSpPr/>
          <p:nvPr/>
        </p:nvSpPr>
        <p:spPr>
          <a:xfrm>
            <a:off x="8055864" y="3657600"/>
            <a:ext cx="3383280" cy="2194560"/>
          </a:xfrm>
          <a:prstGeom prst="roundRect">
            <a:avLst>
              <a:gd name="adj" fmla="val 8000"/>
            </a:avLst>
          </a:prstGeom>
          <a:solidFill>
            <a:srgbClr val="2B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375904" y="3977639"/>
            <a:ext cx="502920" cy="502920"/>
          </a:xfrm>
          <a:prstGeom prst="ellipse">
            <a:avLst/>
          </a:prstGeom>
          <a:solidFill>
            <a:srgbClr val="856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75904" y="4617720"/>
            <a:ext cx="2743200" cy="1188720"/>
          </a:xfrm>
          <a:prstGeom prst="rect">
            <a:avLst/>
          </a:prstGeom>
          <a:noFill/>
        </p:spPr>
        <p:txBody>
          <a:bodyPr wrap="square" lIns="45720" tIns="18288" rIns="45720" bIns="18288" anchor="t">
            <a:spAutoFit/>
          </a:bodyPr>
          <a:lstStyle/>
          <a:p>
            <a:pPr algn="l">
              <a:spcBef>
                <a:spcPts val="0"/>
              </a:spcBef>
              <a:spcAft>
                <a:spcPts val="400"/>
              </a:spcAft>
            </a:pPr>
            <a:r>
              <a:rPr sz="1900" b="1" i="0">
                <a:solidFill>
                  <a:srgbClr val="F1EDE6"/>
                </a:solidFill>
                <a:latin typeface="Trebuchet MS"/>
              </a:rPr>
              <a:t>Erweiterbar</a:t>
            </a:r>
          </a:p>
          <a:p>
            <a:pPr algn="l">
              <a:spcBef>
                <a:spcPts val="0"/>
              </a:spcBef>
              <a:spcAft>
                <a:spcPts val="0"/>
              </a:spcAft>
            </a:pPr>
            <a:r>
              <a:rPr sz="1350" b="0" i="0">
                <a:solidFill>
                  <a:srgbClr val="B9AFD6"/>
                </a:solidFill>
                <a:latin typeface="Trebuchet MS"/>
              </a:rPr>
              <a:t>Bereiche, die mit Features gefüllt werden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AUSGANGSSITUATION</a:t>
            </a:r>
          </a:p>
          <a:p>
            <a:pPr algn="l">
              <a:spcBef>
                <a:spcPts val="0"/>
              </a:spcBef>
              <a:spcAft>
                <a:spcPts val="0"/>
              </a:spcAft>
            </a:pPr>
            <a:r>
              <a:rPr sz="3200" b="1" i="0">
                <a:solidFill>
                  <a:srgbClr val="F1EDE6"/>
                </a:solidFill>
                <a:latin typeface="Trebuchet MS"/>
              </a:rPr>
              <a:t>Das Problem</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4</a:t>
            </a:r>
          </a:p>
        </p:txBody>
      </p:sp>
      <p:sp>
        <p:nvSpPr>
          <p:cNvPr id="9" name="TextBox 8"/>
          <p:cNvSpPr txBox="1"/>
          <p:nvPr/>
        </p:nvSpPr>
        <p:spPr>
          <a:xfrm>
            <a:off x="868680" y="1463040"/>
            <a:ext cx="10424160" cy="914400"/>
          </a:xfrm>
          <a:prstGeom prst="rect">
            <a:avLst/>
          </a:prstGeom>
          <a:noFill/>
        </p:spPr>
        <p:txBody>
          <a:bodyPr wrap="square" lIns="45720" tIns="18288" rIns="45720" bIns="18288" anchor="t">
            <a:spAutoFit/>
          </a:bodyPr>
          <a:lstStyle/>
          <a:p>
            <a:pPr algn="l">
              <a:spcBef>
                <a:spcPts val="0"/>
              </a:spcBef>
              <a:spcAft>
                <a:spcPts val="0"/>
              </a:spcAft>
            </a:pPr>
            <a:r>
              <a:rPr sz="1700" b="0" i="0">
                <a:solidFill>
                  <a:srgbClr val="F1EDE6"/>
                </a:solidFill>
                <a:latin typeface="Trebuchet MS"/>
              </a:rPr>
              <a:t>Wer Alltag oder Projekte strukturieren will, jongliert heute mehrere Tools gleichzeitig:</a:t>
            </a:r>
          </a:p>
        </p:txBody>
      </p:sp>
      <p:sp>
        <p:nvSpPr>
          <p:cNvPr id="10" name="Rounded Rectangle 9"/>
          <p:cNvSpPr/>
          <p:nvPr/>
        </p:nvSpPr>
        <p:spPr>
          <a:xfrm>
            <a:off x="868680" y="2331720"/>
            <a:ext cx="5074920" cy="155448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143000" y="2587752"/>
            <a:ext cx="384048" cy="384048"/>
          </a:xfrm>
          <a:prstGeom prst="roundRect">
            <a:avLst>
              <a:gd name="adj" fmla="val 50000"/>
            </a:avLst>
          </a:prstGeom>
          <a:solidFill>
            <a:srgbClr val="B43B3B"/>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600" b="1">
                <a:solidFill>
                  <a:srgbClr val="F1EDE6"/>
                </a:solidFill>
                <a:latin typeface="Trebuchet MS"/>
              </a:rPr>
              <a:t>!</a:t>
            </a:r>
          </a:p>
        </p:txBody>
      </p:sp>
      <p:sp>
        <p:nvSpPr>
          <p:cNvPr id="12" name="TextBox 11"/>
          <p:cNvSpPr txBox="1"/>
          <p:nvPr/>
        </p:nvSpPr>
        <p:spPr>
          <a:xfrm>
            <a:off x="1737360" y="2532888"/>
            <a:ext cx="4023360" cy="1188720"/>
          </a:xfrm>
          <a:prstGeom prst="rect">
            <a:avLst/>
          </a:prstGeom>
          <a:noFill/>
        </p:spPr>
        <p:txBody>
          <a:bodyPr wrap="square" lIns="45720" tIns="18288" rIns="45720" bIns="18288" anchor="t">
            <a:spAutoFit/>
          </a:bodyPr>
          <a:lstStyle/>
          <a:p>
            <a:pPr algn="l">
              <a:spcBef>
                <a:spcPts val="0"/>
              </a:spcBef>
              <a:spcAft>
                <a:spcPts val="300"/>
              </a:spcAft>
            </a:pPr>
            <a:r>
              <a:rPr sz="1650" b="1" i="0">
                <a:solidFill>
                  <a:srgbClr val="F1EDE6"/>
                </a:solidFill>
                <a:latin typeface="Trebuchet MS"/>
              </a:rPr>
              <a:t>Verstreute Tools</a:t>
            </a:r>
          </a:p>
          <a:p>
            <a:pPr algn="l">
              <a:spcBef>
                <a:spcPts val="0"/>
              </a:spcBef>
              <a:spcAft>
                <a:spcPts val="0"/>
              </a:spcAft>
            </a:pPr>
            <a:r>
              <a:rPr sz="1250" b="0" i="0">
                <a:solidFill>
                  <a:srgbClr val="B9AFD6"/>
                </a:solidFill>
                <a:latin typeface="Trebuchet MS"/>
              </a:rPr>
              <a:t>Notizen hier, Aufgaben dort, Termine im nächsten Tool - nichts greift ineinander.</a:t>
            </a:r>
          </a:p>
        </p:txBody>
      </p:sp>
      <p:sp>
        <p:nvSpPr>
          <p:cNvPr id="13" name="Rounded Rectangle 12"/>
          <p:cNvSpPr/>
          <p:nvPr/>
        </p:nvSpPr>
        <p:spPr>
          <a:xfrm>
            <a:off x="6217920" y="2331720"/>
            <a:ext cx="5074920" cy="155448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92240" y="2587752"/>
            <a:ext cx="384048" cy="384048"/>
          </a:xfrm>
          <a:prstGeom prst="roundRect">
            <a:avLst>
              <a:gd name="adj" fmla="val 50000"/>
            </a:avLst>
          </a:prstGeom>
          <a:solidFill>
            <a:srgbClr val="B43B3B"/>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600" b="1">
                <a:solidFill>
                  <a:srgbClr val="F1EDE6"/>
                </a:solidFill>
                <a:latin typeface="Trebuchet MS"/>
              </a:rPr>
              <a:t>!</a:t>
            </a:r>
          </a:p>
        </p:txBody>
      </p:sp>
      <p:sp>
        <p:nvSpPr>
          <p:cNvPr id="15" name="TextBox 14"/>
          <p:cNvSpPr txBox="1"/>
          <p:nvPr/>
        </p:nvSpPr>
        <p:spPr>
          <a:xfrm>
            <a:off x="7086600" y="2532888"/>
            <a:ext cx="4023360" cy="1188720"/>
          </a:xfrm>
          <a:prstGeom prst="rect">
            <a:avLst/>
          </a:prstGeom>
          <a:noFill/>
        </p:spPr>
        <p:txBody>
          <a:bodyPr wrap="square" lIns="45720" tIns="18288" rIns="45720" bIns="18288" anchor="t">
            <a:spAutoFit/>
          </a:bodyPr>
          <a:lstStyle/>
          <a:p>
            <a:pPr algn="l">
              <a:spcBef>
                <a:spcPts val="0"/>
              </a:spcBef>
              <a:spcAft>
                <a:spcPts val="300"/>
              </a:spcAft>
            </a:pPr>
            <a:r>
              <a:rPr sz="1650" b="1" i="0">
                <a:solidFill>
                  <a:srgbClr val="F1EDE6"/>
                </a:solidFill>
                <a:latin typeface="Trebuchet MS"/>
              </a:rPr>
              <a:t>Kaum Echtzeit-Teamarbeit</a:t>
            </a:r>
          </a:p>
          <a:p>
            <a:pPr algn="l">
              <a:spcBef>
                <a:spcPts val="0"/>
              </a:spcBef>
              <a:spcAft>
                <a:spcPts val="0"/>
              </a:spcAft>
            </a:pPr>
            <a:r>
              <a:rPr sz="1250" b="0" i="0">
                <a:solidFill>
                  <a:srgbClr val="B9AFD6"/>
                </a:solidFill>
                <a:latin typeface="Trebuchet MS"/>
              </a:rPr>
              <a:t>Vergleichbare Apps setzen meist nur auf ein Whiteboard, nicht auf echtes gemeinsames Planen.</a:t>
            </a:r>
          </a:p>
        </p:txBody>
      </p:sp>
      <p:sp>
        <p:nvSpPr>
          <p:cNvPr id="16" name="Rounded Rectangle 15"/>
          <p:cNvSpPr/>
          <p:nvPr/>
        </p:nvSpPr>
        <p:spPr>
          <a:xfrm>
            <a:off x="868680" y="4114800"/>
            <a:ext cx="5074920" cy="155448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143000" y="4370832"/>
            <a:ext cx="384048" cy="384048"/>
          </a:xfrm>
          <a:prstGeom prst="roundRect">
            <a:avLst>
              <a:gd name="adj" fmla="val 50000"/>
            </a:avLst>
          </a:prstGeom>
          <a:solidFill>
            <a:srgbClr val="B43B3B"/>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600" b="1">
                <a:solidFill>
                  <a:srgbClr val="F1EDE6"/>
                </a:solidFill>
                <a:latin typeface="Trebuchet MS"/>
              </a:rPr>
              <a:t>!</a:t>
            </a:r>
          </a:p>
        </p:txBody>
      </p:sp>
      <p:sp>
        <p:nvSpPr>
          <p:cNvPr id="18" name="TextBox 17"/>
          <p:cNvSpPr txBox="1"/>
          <p:nvPr/>
        </p:nvSpPr>
        <p:spPr>
          <a:xfrm>
            <a:off x="1737360" y="4315968"/>
            <a:ext cx="4023360" cy="1188720"/>
          </a:xfrm>
          <a:prstGeom prst="rect">
            <a:avLst/>
          </a:prstGeom>
          <a:noFill/>
        </p:spPr>
        <p:txBody>
          <a:bodyPr wrap="square" lIns="45720" tIns="18288" rIns="45720" bIns="18288" anchor="t">
            <a:spAutoFit/>
          </a:bodyPr>
          <a:lstStyle/>
          <a:p>
            <a:pPr algn="l">
              <a:spcBef>
                <a:spcPts val="0"/>
              </a:spcBef>
              <a:spcAft>
                <a:spcPts val="300"/>
              </a:spcAft>
            </a:pPr>
            <a:r>
              <a:rPr sz="1650" b="1" i="0">
                <a:solidFill>
                  <a:srgbClr val="F1EDE6"/>
                </a:solidFill>
                <a:latin typeface="Trebuchet MS"/>
              </a:rPr>
              <a:t>Privat = Arbeit getrennt</a:t>
            </a:r>
          </a:p>
          <a:p>
            <a:pPr algn="l">
              <a:spcBef>
                <a:spcPts val="0"/>
              </a:spcBef>
              <a:spcAft>
                <a:spcPts val="0"/>
              </a:spcAft>
            </a:pPr>
            <a:r>
              <a:rPr sz="1250" b="0" i="0">
                <a:solidFill>
                  <a:srgbClr val="B9AFD6"/>
                </a:solidFill>
                <a:latin typeface="Trebuchet MS"/>
              </a:rPr>
              <a:t>Für den Alltag und für Projektteams braucht man oft komplett verschiedene Lösungen.</a:t>
            </a:r>
          </a:p>
        </p:txBody>
      </p:sp>
      <p:sp>
        <p:nvSpPr>
          <p:cNvPr id="19" name="Rounded Rectangle 18"/>
          <p:cNvSpPr/>
          <p:nvPr/>
        </p:nvSpPr>
        <p:spPr>
          <a:xfrm>
            <a:off x="6217920" y="4114800"/>
            <a:ext cx="5074920" cy="155448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492240" y="4370832"/>
            <a:ext cx="384048" cy="384048"/>
          </a:xfrm>
          <a:prstGeom prst="roundRect">
            <a:avLst>
              <a:gd name="adj" fmla="val 50000"/>
            </a:avLst>
          </a:prstGeom>
          <a:solidFill>
            <a:srgbClr val="B43B3B"/>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600" b="1">
                <a:solidFill>
                  <a:srgbClr val="F1EDE6"/>
                </a:solidFill>
                <a:latin typeface="Trebuchet MS"/>
              </a:rPr>
              <a:t>!</a:t>
            </a:r>
          </a:p>
        </p:txBody>
      </p:sp>
      <p:sp>
        <p:nvSpPr>
          <p:cNvPr id="21" name="TextBox 20"/>
          <p:cNvSpPr txBox="1"/>
          <p:nvPr/>
        </p:nvSpPr>
        <p:spPr>
          <a:xfrm>
            <a:off x="7086600" y="4315968"/>
            <a:ext cx="4023360" cy="714042"/>
          </a:xfrm>
          <a:prstGeom prst="rect">
            <a:avLst/>
          </a:prstGeom>
          <a:noFill/>
        </p:spPr>
        <p:txBody>
          <a:bodyPr wrap="square" lIns="45720" tIns="18288" rIns="45720" bIns="18288" anchor="t">
            <a:spAutoFit/>
          </a:bodyPr>
          <a:lstStyle/>
          <a:p>
            <a:pPr algn="l">
              <a:spcBef>
                <a:spcPts val="0"/>
              </a:spcBef>
              <a:spcAft>
                <a:spcPts val="300"/>
              </a:spcAft>
            </a:pPr>
            <a:r>
              <a:rPr sz="1650" b="1" i="0" dirty="0">
                <a:solidFill>
                  <a:srgbClr val="F1EDE6"/>
                </a:solidFill>
                <a:latin typeface="Trebuchet MS"/>
              </a:rPr>
              <a:t>Nicht </a:t>
            </a:r>
            <a:r>
              <a:rPr sz="1650" b="1" i="0" dirty="0" err="1">
                <a:solidFill>
                  <a:srgbClr val="F1EDE6"/>
                </a:solidFill>
                <a:latin typeface="Trebuchet MS"/>
              </a:rPr>
              <a:t>erweiterbar</a:t>
            </a:r>
            <a:endParaRPr sz="1650" b="1" i="0" dirty="0">
              <a:solidFill>
                <a:srgbClr val="F1EDE6"/>
              </a:solidFill>
              <a:latin typeface="Trebuchet MS"/>
            </a:endParaRPr>
          </a:p>
          <a:p>
            <a:pPr algn="l">
              <a:spcBef>
                <a:spcPts val="0"/>
              </a:spcBef>
              <a:spcAft>
                <a:spcPts val="0"/>
              </a:spcAft>
            </a:pPr>
            <a:r>
              <a:rPr sz="1250" b="0" i="0" dirty="0" err="1">
                <a:solidFill>
                  <a:srgbClr val="B9AFD6"/>
                </a:solidFill>
                <a:latin typeface="Trebuchet MS"/>
              </a:rPr>
              <a:t>Geschlossene</a:t>
            </a:r>
            <a:r>
              <a:rPr sz="1250" b="0" i="0" dirty="0">
                <a:solidFill>
                  <a:srgbClr val="B9AFD6"/>
                </a:solidFill>
                <a:latin typeface="Trebuchet MS"/>
              </a:rPr>
              <a:t> Apps </a:t>
            </a:r>
            <a:r>
              <a:rPr sz="1250" b="0" i="0" dirty="0" err="1">
                <a:solidFill>
                  <a:srgbClr val="B9AFD6"/>
                </a:solidFill>
                <a:latin typeface="Trebuchet MS"/>
              </a:rPr>
              <a:t>lassen</a:t>
            </a:r>
            <a:r>
              <a:rPr sz="1250" b="0" i="0" dirty="0">
                <a:solidFill>
                  <a:srgbClr val="B9AFD6"/>
                </a:solidFill>
                <a:latin typeface="Trebuchet MS"/>
              </a:rPr>
              <a:t> </a:t>
            </a:r>
            <a:r>
              <a:rPr sz="1250" b="0" i="0" dirty="0" err="1">
                <a:solidFill>
                  <a:srgbClr val="B9AFD6"/>
                </a:solidFill>
                <a:latin typeface="Trebuchet MS"/>
              </a:rPr>
              <a:t>sich</a:t>
            </a:r>
            <a:r>
              <a:rPr sz="1250" b="0" i="0" dirty="0">
                <a:solidFill>
                  <a:srgbClr val="B9AFD6"/>
                </a:solidFill>
                <a:latin typeface="Trebuchet MS"/>
              </a:rPr>
              <a:t> nicht </a:t>
            </a:r>
            <a:r>
              <a:rPr sz="1250" b="0" i="0" dirty="0" err="1">
                <a:solidFill>
                  <a:srgbClr val="B9AFD6"/>
                </a:solidFill>
                <a:latin typeface="Trebuchet MS"/>
              </a:rPr>
              <a:t>einfach</a:t>
            </a:r>
            <a:r>
              <a:rPr sz="1250" b="0" i="0" dirty="0">
                <a:solidFill>
                  <a:srgbClr val="B9AFD6"/>
                </a:solidFill>
                <a:latin typeface="Trebuchet MS"/>
              </a:rPr>
              <a:t> um </a:t>
            </a:r>
            <a:r>
              <a:rPr sz="1250" b="0" i="0" dirty="0" err="1">
                <a:solidFill>
                  <a:srgbClr val="B9AFD6"/>
                </a:solidFill>
                <a:latin typeface="Trebuchet MS"/>
              </a:rPr>
              <a:t>neue</a:t>
            </a:r>
            <a:r>
              <a:rPr sz="1250" b="0" i="0" dirty="0">
                <a:solidFill>
                  <a:srgbClr val="B9AFD6"/>
                </a:solidFill>
                <a:latin typeface="Trebuchet MS"/>
              </a:rPr>
              <a:t> </a:t>
            </a:r>
            <a:r>
              <a:rPr sz="1250" b="0" i="0" dirty="0" err="1">
                <a:solidFill>
                  <a:srgbClr val="B9AFD6"/>
                </a:solidFill>
                <a:latin typeface="Trebuchet MS"/>
              </a:rPr>
              <a:t>Funktionen</a:t>
            </a:r>
            <a:r>
              <a:rPr sz="1250" b="0" i="0" dirty="0">
                <a:solidFill>
                  <a:srgbClr val="B9AFD6"/>
                </a:solidFill>
                <a:latin typeface="Trebuchet MS"/>
              </a:rPr>
              <a:t> erg</a:t>
            </a:r>
            <a:r>
              <a:rPr lang="de-AT" sz="1250" b="0" i="0" dirty="0">
                <a:solidFill>
                  <a:srgbClr val="B9AFD6"/>
                </a:solidFill>
                <a:latin typeface="Trebuchet MS"/>
              </a:rPr>
              <a:t>ä</a:t>
            </a:r>
            <a:r>
              <a:rPr sz="1250" b="0" i="0" dirty="0" err="1">
                <a:solidFill>
                  <a:srgbClr val="B9AFD6"/>
                </a:solidFill>
                <a:latin typeface="Trebuchet MS"/>
              </a:rPr>
              <a:t>nzen</a:t>
            </a:r>
            <a:r>
              <a:rPr sz="1250" b="0" i="0" dirty="0">
                <a:solidFill>
                  <a:srgbClr val="B9AFD6"/>
                </a:solidFill>
                <a:latin typeface="Trebuchet MS"/>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EINE APP STATT VIELER TOOLS</a:t>
            </a:r>
          </a:p>
          <a:p>
            <a:pPr algn="l">
              <a:spcBef>
                <a:spcPts val="0"/>
              </a:spcBef>
              <a:spcAft>
                <a:spcPts val="0"/>
              </a:spcAft>
            </a:pPr>
            <a:r>
              <a:rPr sz="3200" b="1" i="0">
                <a:solidFill>
                  <a:srgbClr val="F1EDE6"/>
                </a:solidFill>
                <a:latin typeface="Trebuchet MS"/>
              </a:rPr>
              <a:t>Die Lösung: Lumify</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5</a:t>
            </a:r>
          </a:p>
        </p:txBody>
      </p:sp>
      <p:sp>
        <p:nvSpPr>
          <p:cNvPr id="9" name="Rounded Rectangle 8"/>
          <p:cNvSpPr/>
          <p:nvPr/>
        </p:nvSpPr>
        <p:spPr>
          <a:xfrm>
            <a:off x="640080" y="566928"/>
            <a:ext cx="82296" cy="566928"/>
          </a:xfrm>
          <a:prstGeom prst="roundRect">
            <a:avLst>
              <a:gd name="adj" fmla="val 50000"/>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EINE APP STATT VIELER TOOLS</a:t>
            </a:r>
          </a:p>
          <a:p>
            <a:pPr algn="l">
              <a:spcBef>
                <a:spcPts val="0"/>
              </a:spcBef>
              <a:spcAft>
                <a:spcPts val="0"/>
              </a:spcAft>
            </a:pPr>
            <a:r>
              <a:rPr sz="3200" b="1" i="0">
                <a:solidFill>
                  <a:srgbClr val="F1EDE6"/>
                </a:solidFill>
                <a:latin typeface="Trebuchet MS"/>
              </a:rPr>
              <a:t>Die Lösung: Lumify</a:t>
            </a:r>
          </a:p>
        </p:txBody>
      </p:sp>
      <p:sp>
        <p:nvSpPr>
          <p:cNvPr id="11" name="TextBox 10"/>
          <p:cNvSpPr txBox="1"/>
          <p:nvPr/>
        </p:nvSpPr>
        <p:spPr>
          <a:xfrm>
            <a:off x="868680" y="1463040"/>
            <a:ext cx="10424160" cy="822960"/>
          </a:xfrm>
          <a:prstGeom prst="rect">
            <a:avLst/>
          </a:prstGeom>
          <a:noFill/>
        </p:spPr>
        <p:txBody>
          <a:bodyPr wrap="square" lIns="45720" tIns="18288" rIns="45720" bIns="18288" anchor="t">
            <a:spAutoFit/>
          </a:bodyPr>
          <a:lstStyle/>
          <a:p>
            <a:pPr algn="l">
              <a:spcBef>
                <a:spcPts val="0"/>
              </a:spcBef>
              <a:spcAft>
                <a:spcPts val="0"/>
              </a:spcAft>
            </a:pPr>
            <a:r>
              <a:rPr sz="1700" b="0" i="0">
                <a:solidFill>
                  <a:srgbClr val="F1EDE6"/>
                </a:solidFill>
                <a:latin typeface="Trebuchet MS"/>
              </a:rPr>
              <a:t>Lumify bündelt alle Basis-Werkzeuge an einem Ort - mit Echtzeit-Sync und einem erweiterbaren Aufbau.</a:t>
            </a:r>
          </a:p>
        </p:txBody>
      </p:sp>
      <p:sp>
        <p:nvSpPr>
          <p:cNvPr id="12" name="Rounded Rectangle 11"/>
          <p:cNvSpPr/>
          <p:nvPr/>
        </p:nvSpPr>
        <p:spPr>
          <a:xfrm>
            <a:off x="868680" y="2331720"/>
            <a:ext cx="3383280" cy="169164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97280" y="2606040"/>
            <a:ext cx="82296" cy="457200"/>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71600" y="2560320"/>
            <a:ext cx="2743200" cy="683264"/>
          </a:xfrm>
          <a:prstGeom prst="rect">
            <a:avLst/>
          </a:prstGeom>
          <a:noFill/>
        </p:spPr>
        <p:txBody>
          <a:bodyPr wrap="square" lIns="45720" tIns="18288" rIns="45720" bIns="18288" anchor="t">
            <a:spAutoFit/>
          </a:bodyPr>
          <a:lstStyle/>
          <a:p>
            <a:pPr algn="l">
              <a:spcBef>
                <a:spcPts val="0"/>
              </a:spcBef>
              <a:spcAft>
                <a:spcPts val="300"/>
              </a:spcAft>
            </a:pPr>
            <a:r>
              <a:rPr sz="1550" b="1" i="0" dirty="0">
                <a:solidFill>
                  <a:srgbClr val="F1EDE6"/>
                </a:solidFill>
                <a:latin typeface="Trebuchet MS"/>
              </a:rPr>
              <a:t>Alles an </a:t>
            </a:r>
            <a:r>
              <a:rPr sz="1550" b="1" i="0" dirty="0" err="1">
                <a:solidFill>
                  <a:srgbClr val="F1EDE6"/>
                </a:solidFill>
                <a:latin typeface="Trebuchet MS"/>
              </a:rPr>
              <a:t>einem</a:t>
            </a:r>
            <a:r>
              <a:rPr sz="1550" b="1" i="0" dirty="0">
                <a:solidFill>
                  <a:srgbClr val="F1EDE6"/>
                </a:solidFill>
                <a:latin typeface="Trebuchet MS"/>
              </a:rPr>
              <a:t> Ort</a:t>
            </a:r>
          </a:p>
          <a:p>
            <a:pPr algn="l">
              <a:spcBef>
                <a:spcPts val="0"/>
              </a:spcBef>
              <a:spcAft>
                <a:spcPts val="0"/>
              </a:spcAft>
            </a:pPr>
            <a:r>
              <a:rPr sz="1200" b="0" i="0" dirty="0" err="1">
                <a:solidFill>
                  <a:srgbClr val="B9AFD6"/>
                </a:solidFill>
                <a:latin typeface="Trebuchet MS"/>
              </a:rPr>
              <a:t>Notizen</a:t>
            </a:r>
            <a:r>
              <a:rPr sz="1200" b="0" i="0" dirty="0">
                <a:solidFill>
                  <a:srgbClr val="B9AFD6"/>
                </a:solidFill>
                <a:latin typeface="Trebuchet MS"/>
              </a:rPr>
              <a:t>, Todos und Events </a:t>
            </a:r>
            <a:r>
              <a:rPr sz="1200" b="0" i="0" dirty="0" err="1">
                <a:solidFill>
                  <a:srgbClr val="B9AFD6"/>
                </a:solidFill>
                <a:latin typeface="Trebuchet MS"/>
              </a:rPr>
              <a:t>teilen</a:t>
            </a:r>
            <a:r>
              <a:rPr sz="1200" b="0" i="0" dirty="0">
                <a:solidFill>
                  <a:srgbClr val="B9AFD6"/>
                </a:solidFill>
                <a:latin typeface="Trebuchet MS"/>
              </a:rPr>
              <a:t> </a:t>
            </a:r>
            <a:r>
              <a:rPr sz="1200" b="0" i="0" dirty="0" err="1">
                <a:solidFill>
                  <a:srgbClr val="B9AFD6"/>
                </a:solidFill>
                <a:latin typeface="Trebuchet MS"/>
              </a:rPr>
              <a:t>sich</a:t>
            </a:r>
            <a:r>
              <a:rPr sz="1200" b="0" i="0" dirty="0">
                <a:solidFill>
                  <a:srgbClr val="B9AFD6"/>
                </a:solidFill>
                <a:latin typeface="Trebuchet MS"/>
              </a:rPr>
              <a:t> den</a:t>
            </a:r>
            <a:r>
              <a:rPr lang="de-AT" sz="1200" b="0" i="0" dirty="0">
                <a:solidFill>
                  <a:srgbClr val="B9AFD6"/>
                </a:solidFill>
                <a:latin typeface="Trebuchet MS"/>
              </a:rPr>
              <a:t> </a:t>
            </a:r>
            <a:r>
              <a:rPr sz="1200" b="0" i="0" dirty="0" err="1">
                <a:solidFill>
                  <a:srgbClr val="B9AFD6"/>
                </a:solidFill>
                <a:latin typeface="Trebuchet MS"/>
              </a:rPr>
              <a:t>selben</a:t>
            </a:r>
            <a:r>
              <a:rPr sz="1200" b="0" i="0" dirty="0">
                <a:solidFill>
                  <a:srgbClr val="B9AFD6"/>
                </a:solidFill>
                <a:latin typeface="Trebuchet MS"/>
              </a:rPr>
              <a:t> Space.</a:t>
            </a:r>
          </a:p>
        </p:txBody>
      </p:sp>
      <p:sp>
        <p:nvSpPr>
          <p:cNvPr id="15" name="Rounded Rectangle 14"/>
          <p:cNvSpPr/>
          <p:nvPr/>
        </p:nvSpPr>
        <p:spPr>
          <a:xfrm>
            <a:off x="4462272" y="2331720"/>
            <a:ext cx="3383280" cy="169164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690872" y="2606040"/>
            <a:ext cx="82296" cy="457200"/>
          </a:xfrm>
          <a:prstGeom prst="roundRect">
            <a:avLst>
              <a:gd name="adj" fmla="val 50000"/>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65192" y="2560320"/>
            <a:ext cx="2743200" cy="1280160"/>
          </a:xfrm>
          <a:prstGeom prst="rect">
            <a:avLst/>
          </a:prstGeom>
          <a:noFill/>
        </p:spPr>
        <p:txBody>
          <a:bodyPr wrap="square" lIns="45720" tIns="18288" rIns="45720" bIns="18288" anchor="t">
            <a:spAutoFit/>
          </a:bodyPr>
          <a:lstStyle/>
          <a:p>
            <a:pPr algn="l">
              <a:spcBef>
                <a:spcPts val="0"/>
              </a:spcBef>
              <a:spcAft>
                <a:spcPts val="300"/>
              </a:spcAft>
            </a:pPr>
            <a:r>
              <a:rPr sz="1550" b="1" i="0">
                <a:solidFill>
                  <a:srgbClr val="F1EDE6"/>
                </a:solidFill>
                <a:latin typeface="Trebuchet MS"/>
              </a:rPr>
              <a:t>Live-Zusammenarbeit</a:t>
            </a:r>
          </a:p>
          <a:p>
            <a:pPr algn="l">
              <a:spcBef>
                <a:spcPts val="0"/>
              </a:spcBef>
              <a:spcAft>
                <a:spcPts val="0"/>
              </a:spcAft>
            </a:pPr>
            <a:r>
              <a:rPr sz="1200" b="0" i="0">
                <a:solidFill>
                  <a:srgbClr val="B9AFD6"/>
                </a:solidFill>
                <a:latin typeface="Trebuchet MS"/>
              </a:rPr>
              <a:t>Änderungen erscheinen sofort bei allen Mitgliedern - ohne Reload.</a:t>
            </a:r>
          </a:p>
        </p:txBody>
      </p:sp>
      <p:sp>
        <p:nvSpPr>
          <p:cNvPr id="18" name="Rounded Rectangle 17"/>
          <p:cNvSpPr/>
          <p:nvPr/>
        </p:nvSpPr>
        <p:spPr>
          <a:xfrm>
            <a:off x="8055864" y="2331720"/>
            <a:ext cx="3383280" cy="169164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284464" y="2606040"/>
            <a:ext cx="82296" cy="457200"/>
          </a:xfrm>
          <a:prstGeom prst="roundRect">
            <a:avLst>
              <a:gd name="adj" fmla="val 50000"/>
            </a:avLst>
          </a:prstGeom>
          <a:solidFill>
            <a:srgbClr val="856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58784" y="2560320"/>
            <a:ext cx="2743200" cy="1280160"/>
          </a:xfrm>
          <a:prstGeom prst="rect">
            <a:avLst/>
          </a:prstGeom>
          <a:noFill/>
        </p:spPr>
        <p:txBody>
          <a:bodyPr wrap="square" lIns="45720" tIns="18288" rIns="45720" bIns="18288" anchor="t">
            <a:spAutoFit/>
          </a:bodyPr>
          <a:lstStyle/>
          <a:p>
            <a:pPr algn="l">
              <a:spcBef>
                <a:spcPts val="0"/>
              </a:spcBef>
              <a:spcAft>
                <a:spcPts val="300"/>
              </a:spcAft>
            </a:pPr>
            <a:r>
              <a:rPr sz="1550" b="1" i="0">
                <a:solidFill>
                  <a:srgbClr val="F1EDE6"/>
                </a:solidFill>
                <a:latin typeface="Trebuchet MS"/>
              </a:rPr>
              <a:t>Privat &amp; Team</a:t>
            </a:r>
          </a:p>
          <a:p>
            <a:pPr algn="l">
              <a:spcBef>
                <a:spcPts val="0"/>
              </a:spcBef>
              <a:spcAft>
                <a:spcPts val="0"/>
              </a:spcAft>
            </a:pPr>
            <a:r>
              <a:rPr sz="1200" b="0" i="0">
                <a:solidFill>
                  <a:srgbClr val="B9AFD6"/>
                </a:solidFill>
                <a:latin typeface="Trebuchet MS"/>
              </a:rPr>
              <a:t>Jeder hat einen privaten Space, dazu beliebige Workspaces.</a:t>
            </a:r>
          </a:p>
        </p:txBody>
      </p:sp>
      <p:sp>
        <p:nvSpPr>
          <p:cNvPr id="21" name="Rounded Rectangle 20"/>
          <p:cNvSpPr/>
          <p:nvPr/>
        </p:nvSpPr>
        <p:spPr>
          <a:xfrm>
            <a:off x="868680" y="4206239"/>
            <a:ext cx="3383280" cy="169164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97280" y="4480559"/>
            <a:ext cx="82296" cy="457200"/>
          </a:xfrm>
          <a:prstGeom prst="roundRect">
            <a:avLst>
              <a:gd name="adj" fmla="val 50000"/>
            </a:avLst>
          </a:prstGeom>
          <a:solidFill>
            <a:srgbClr val="76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71600" y="4434839"/>
            <a:ext cx="2743200" cy="683264"/>
          </a:xfrm>
          <a:prstGeom prst="rect">
            <a:avLst/>
          </a:prstGeom>
          <a:noFill/>
        </p:spPr>
        <p:txBody>
          <a:bodyPr wrap="square" lIns="45720" tIns="18288" rIns="45720" bIns="18288" anchor="t">
            <a:spAutoFit/>
          </a:bodyPr>
          <a:lstStyle/>
          <a:p>
            <a:pPr algn="l">
              <a:spcBef>
                <a:spcPts val="0"/>
              </a:spcBef>
              <a:spcAft>
                <a:spcPts val="300"/>
              </a:spcAft>
            </a:pPr>
            <a:r>
              <a:rPr sz="1550" b="1" i="0" dirty="0" err="1">
                <a:solidFill>
                  <a:srgbClr val="F1EDE6"/>
                </a:solidFill>
                <a:latin typeface="Trebuchet MS"/>
              </a:rPr>
              <a:t>Stimmungsbasiertes</a:t>
            </a:r>
            <a:r>
              <a:rPr sz="1550" b="1" i="0" dirty="0">
                <a:solidFill>
                  <a:srgbClr val="F1EDE6"/>
                </a:solidFill>
                <a:latin typeface="Trebuchet MS"/>
              </a:rPr>
              <a:t> UI</a:t>
            </a:r>
          </a:p>
          <a:p>
            <a:pPr algn="l">
              <a:spcBef>
                <a:spcPts val="0"/>
              </a:spcBef>
              <a:spcAft>
                <a:spcPts val="0"/>
              </a:spcAft>
            </a:pPr>
            <a:r>
              <a:rPr sz="1200" b="0" i="0" dirty="0" err="1">
                <a:solidFill>
                  <a:srgbClr val="B9AFD6"/>
                </a:solidFill>
                <a:latin typeface="Trebuchet MS"/>
              </a:rPr>
              <a:t>Farbgebung</a:t>
            </a:r>
            <a:r>
              <a:rPr sz="1200" b="0" i="0" dirty="0">
                <a:solidFill>
                  <a:srgbClr val="B9AFD6"/>
                </a:solidFill>
                <a:latin typeface="Trebuchet MS"/>
              </a:rPr>
              <a:t> &amp; Themes (Chill / Beach), Optimistic-UI für </a:t>
            </a:r>
            <a:r>
              <a:rPr sz="1200" b="0" i="0" dirty="0" err="1">
                <a:solidFill>
                  <a:srgbClr val="B9AFD6"/>
                </a:solidFill>
                <a:latin typeface="Trebuchet MS"/>
              </a:rPr>
              <a:t>schnelles</a:t>
            </a:r>
            <a:r>
              <a:rPr sz="1200" b="0" i="0" dirty="0">
                <a:solidFill>
                  <a:srgbClr val="B9AFD6"/>
                </a:solidFill>
                <a:latin typeface="Trebuchet MS"/>
              </a:rPr>
              <a:t> </a:t>
            </a:r>
            <a:r>
              <a:rPr lang="de-AT" sz="1200" b="0" i="0" dirty="0">
                <a:solidFill>
                  <a:srgbClr val="B9AFD6"/>
                </a:solidFill>
                <a:latin typeface="Trebuchet MS"/>
              </a:rPr>
              <a:t>Erledigen</a:t>
            </a:r>
            <a:r>
              <a:rPr sz="1200" b="0" i="0" dirty="0">
                <a:solidFill>
                  <a:srgbClr val="B9AFD6"/>
                </a:solidFill>
                <a:latin typeface="Trebuchet MS"/>
              </a:rPr>
              <a:t>.</a:t>
            </a:r>
          </a:p>
        </p:txBody>
      </p:sp>
      <p:sp>
        <p:nvSpPr>
          <p:cNvPr id="24" name="Rounded Rectangle 23"/>
          <p:cNvSpPr/>
          <p:nvPr/>
        </p:nvSpPr>
        <p:spPr>
          <a:xfrm>
            <a:off x="4462272" y="4206239"/>
            <a:ext cx="3383280" cy="169164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690872" y="4480559"/>
            <a:ext cx="82296" cy="457200"/>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965192" y="4434839"/>
            <a:ext cx="2743200" cy="1280160"/>
          </a:xfrm>
          <a:prstGeom prst="rect">
            <a:avLst/>
          </a:prstGeom>
          <a:noFill/>
        </p:spPr>
        <p:txBody>
          <a:bodyPr wrap="square" lIns="45720" tIns="18288" rIns="45720" bIns="18288" anchor="t">
            <a:spAutoFit/>
          </a:bodyPr>
          <a:lstStyle/>
          <a:p>
            <a:pPr algn="l">
              <a:spcBef>
                <a:spcPts val="0"/>
              </a:spcBef>
              <a:spcAft>
                <a:spcPts val="300"/>
              </a:spcAft>
            </a:pPr>
            <a:r>
              <a:rPr sz="1550" b="1" i="0" dirty="0" err="1">
                <a:solidFill>
                  <a:srgbClr val="F1EDE6"/>
                </a:solidFill>
                <a:latin typeface="Trebuchet MS"/>
              </a:rPr>
              <a:t>Erweiterbar</a:t>
            </a:r>
            <a:r>
              <a:rPr sz="1550" b="1" i="0" dirty="0">
                <a:solidFill>
                  <a:srgbClr val="F1EDE6"/>
                </a:solidFill>
                <a:latin typeface="Trebuchet MS"/>
              </a:rPr>
              <a:t> </a:t>
            </a:r>
            <a:r>
              <a:rPr sz="1550" b="1" i="0" dirty="0" err="1">
                <a:solidFill>
                  <a:srgbClr val="F1EDE6"/>
                </a:solidFill>
                <a:latin typeface="Trebuchet MS"/>
              </a:rPr>
              <a:t>gebaut</a:t>
            </a:r>
            <a:endParaRPr sz="1550" b="1" i="0" dirty="0">
              <a:solidFill>
                <a:srgbClr val="F1EDE6"/>
              </a:solidFill>
              <a:latin typeface="Trebuchet MS"/>
            </a:endParaRPr>
          </a:p>
          <a:p>
            <a:pPr algn="l">
              <a:spcBef>
                <a:spcPts val="0"/>
              </a:spcBef>
              <a:spcAft>
                <a:spcPts val="0"/>
              </a:spcAft>
            </a:pPr>
            <a:r>
              <a:rPr sz="1200" b="0" i="0" dirty="0">
                <a:solidFill>
                  <a:srgbClr val="B9AFD6"/>
                </a:solidFill>
                <a:latin typeface="Trebuchet MS"/>
              </a:rPr>
              <a:t>Neue Features </a:t>
            </a:r>
            <a:r>
              <a:rPr sz="1200" b="0" i="0" dirty="0" err="1">
                <a:solidFill>
                  <a:srgbClr val="B9AFD6"/>
                </a:solidFill>
                <a:latin typeface="Trebuchet MS"/>
              </a:rPr>
              <a:t>lassen</a:t>
            </a:r>
            <a:r>
              <a:rPr sz="1200" b="0" i="0" dirty="0">
                <a:solidFill>
                  <a:srgbClr val="B9AFD6"/>
                </a:solidFill>
                <a:latin typeface="Trebuchet MS"/>
              </a:rPr>
              <a:t> </a:t>
            </a:r>
            <a:r>
              <a:rPr sz="1200" b="0" i="0" dirty="0" err="1">
                <a:solidFill>
                  <a:srgbClr val="B9AFD6"/>
                </a:solidFill>
                <a:latin typeface="Trebuchet MS"/>
              </a:rPr>
              <a:t>sich</a:t>
            </a:r>
            <a:r>
              <a:rPr sz="1200" b="0" i="0" dirty="0">
                <a:solidFill>
                  <a:srgbClr val="B9AFD6"/>
                </a:solidFill>
                <a:latin typeface="Trebuchet MS"/>
              </a:rPr>
              <a:t> </a:t>
            </a:r>
            <a:r>
              <a:rPr sz="1200" b="0" i="0" dirty="0" err="1">
                <a:solidFill>
                  <a:srgbClr val="B9AFD6"/>
                </a:solidFill>
                <a:latin typeface="Trebuchet MS"/>
              </a:rPr>
              <a:t>als</a:t>
            </a:r>
            <a:r>
              <a:rPr sz="1200" b="0" i="0" dirty="0">
                <a:solidFill>
                  <a:srgbClr val="B9AFD6"/>
                </a:solidFill>
                <a:latin typeface="Trebuchet MS"/>
              </a:rPr>
              <a:t> </a:t>
            </a:r>
            <a:r>
              <a:rPr sz="1200" b="0" i="0" dirty="0" err="1">
                <a:solidFill>
                  <a:srgbClr val="B9AFD6"/>
                </a:solidFill>
                <a:latin typeface="Trebuchet MS"/>
              </a:rPr>
              <a:t>gekapselte</a:t>
            </a:r>
            <a:r>
              <a:rPr sz="1200" b="0" i="0" dirty="0">
                <a:solidFill>
                  <a:srgbClr val="B9AFD6"/>
                </a:solidFill>
                <a:latin typeface="Trebuchet MS"/>
              </a:rPr>
              <a:t> Module </a:t>
            </a:r>
            <a:r>
              <a:rPr sz="1200" b="0" i="0" dirty="0" err="1">
                <a:solidFill>
                  <a:srgbClr val="B9AFD6"/>
                </a:solidFill>
                <a:latin typeface="Trebuchet MS"/>
              </a:rPr>
              <a:t>andocken</a:t>
            </a:r>
            <a:r>
              <a:rPr sz="1200" b="0" i="0" dirty="0">
                <a:solidFill>
                  <a:srgbClr val="B9AFD6"/>
                </a:solidFill>
                <a:latin typeface="Trebuchet MS"/>
              </a:rPr>
              <a:t>.</a:t>
            </a:r>
          </a:p>
        </p:txBody>
      </p:sp>
      <p:sp>
        <p:nvSpPr>
          <p:cNvPr id="27" name="Rounded Rectangle 26"/>
          <p:cNvSpPr/>
          <p:nvPr/>
        </p:nvSpPr>
        <p:spPr>
          <a:xfrm>
            <a:off x="8055864" y="4206239"/>
            <a:ext cx="3383280" cy="169164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284464" y="4480559"/>
            <a:ext cx="82296" cy="457200"/>
          </a:xfrm>
          <a:prstGeom prst="roundRect">
            <a:avLst>
              <a:gd name="adj" fmla="val 50000"/>
            </a:avLst>
          </a:prstGeom>
          <a:solidFill>
            <a:srgbClr val="008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58784" y="4434839"/>
            <a:ext cx="2743200" cy="683264"/>
          </a:xfrm>
          <a:prstGeom prst="rect">
            <a:avLst/>
          </a:prstGeom>
          <a:noFill/>
        </p:spPr>
        <p:txBody>
          <a:bodyPr wrap="square" lIns="45720" tIns="18288" rIns="45720" bIns="18288" anchor="t">
            <a:spAutoFit/>
          </a:bodyPr>
          <a:lstStyle/>
          <a:p>
            <a:pPr algn="l">
              <a:spcBef>
                <a:spcPts val="0"/>
              </a:spcBef>
              <a:spcAft>
                <a:spcPts val="300"/>
              </a:spcAft>
            </a:pPr>
            <a:r>
              <a:rPr sz="1550" b="1" i="0" dirty="0">
                <a:solidFill>
                  <a:srgbClr val="F1EDE6"/>
                </a:solidFill>
                <a:latin typeface="Trebuchet MS"/>
              </a:rPr>
              <a:t>Sicher</a:t>
            </a:r>
          </a:p>
          <a:p>
            <a:pPr algn="l">
              <a:spcBef>
                <a:spcPts val="0"/>
              </a:spcBef>
              <a:spcAft>
                <a:spcPts val="0"/>
              </a:spcAft>
            </a:pPr>
            <a:r>
              <a:rPr sz="1200" b="0" i="0" dirty="0" err="1">
                <a:solidFill>
                  <a:srgbClr val="B9AFD6"/>
                </a:solidFill>
                <a:latin typeface="Trebuchet MS"/>
              </a:rPr>
              <a:t>Authentifizierung</a:t>
            </a:r>
            <a:r>
              <a:rPr sz="1200" b="0" i="0" dirty="0">
                <a:solidFill>
                  <a:srgbClr val="B9AFD6"/>
                </a:solidFill>
                <a:latin typeface="Trebuchet MS"/>
              </a:rPr>
              <a:t> </a:t>
            </a:r>
            <a:r>
              <a:rPr sz="1200" b="0" i="0" dirty="0" err="1">
                <a:solidFill>
                  <a:srgbClr val="B9AFD6"/>
                </a:solidFill>
                <a:latin typeface="Trebuchet MS"/>
              </a:rPr>
              <a:t>inkl</a:t>
            </a:r>
            <a:r>
              <a:rPr sz="1200" b="0" i="0" dirty="0">
                <a:solidFill>
                  <a:srgbClr val="B9AFD6"/>
                </a:solidFill>
                <a:latin typeface="Trebuchet MS"/>
              </a:rPr>
              <a:t>. MFA, CSRF-Schutz, </a:t>
            </a:r>
            <a:r>
              <a:rPr lang="de-AT" sz="1200" b="0" i="0" dirty="0">
                <a:solidFill>
                  <a:srgbClr val="B9AFD6"/>
                </a:solidFill>
                <a:latin typeface="Trebuchet MS"/>
              </a:rPr>
              <a:t>Proxy</a:t>
            </a:r>
            <a:r>
              <a:rPr sz="1200" b="0" i="0" dirty="0">
                <a:solidFill>
                  <a:srgbClr val="B9AFD6"/>
                </a:solidFill>
                <a:latin typeface="Trebuchet MS"/>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ZIELGRUPPEN</a:t>
            </a:r>
          </a:p>
          <a:p>
            <a:pPr algn="l">
              <a:spcBef>
                <a:spcPts val="0"/>
              </a:spcBef>
              <a:spcAft>
                <a:spcPts val="0"/>
              </a:spcAft>
            </a:pPr>
            <a:r>
              <a:rPr sz="3200" b="1" i="0">
                <a:solidFill>
                  <a:srgbClr val="F1EDE6"/>
                </a:solidFill>
                <a:latin typeface="Trebuchet MS"/>
              </a:rPr>
              <a:t>Für wen ist Lumify?</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6</a:t>
            </a:r>
          </a:p>
        </p:txBody>
      </p:sp>
      <p:sp>
        <p:nvSpPr>
          <p:cNvPr id="9" name="Rounded Rectangle 8"/>
          <p:cNvSpPr/>
          <p:nvPr/>
        </p:nvSpPr>
        <p:spPr>
          <a:xfrm>
            <a:off x="868680" y="1691640"/>
            <a:ext cx="5074920" cy="4114800"/>
          </a:xfrm>
          <a:prstGeom prst="roundRect">
            <a:avLst>
              <a:gd name="adj" fmla="val 5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68680" y="1691640"/>
            <a:ext cx="5074920" cy="868680"/>
          </a:xfrm>
          <a:prstGeom prst="roundRect">
            <a:avLst>
              <a:gd name="adj" fmla="val 5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34440" y="1783080"/>
            <a:ext cx="4389120" cy="731520"/>
          </a:xfrm>
          <a:prstGeom prst="rect">
            <a:avLst/>
          </a:prstGeom>
          <a:noFill/>
        </p:spPr>
        <p:txBody>
          <a:bodyPr wrap="square" lIns="45720" tIns="18288" rIns="45720" bIns="18288" anchor="ctr">
            <a:spAutoFit/>
          </a:bodyPr>
          <a:lstStyle/>
          <a:p>
            <a:pPr algn="l">
              <a:spcBef>
                <a:spcPts val="0"/>
              </a:spcBef>
              <a:spcAft>
                <a:spcPts val="0"/>
              </a:spcAft>
            </a:pPr>
            <a:r>
              <a:rPr sz="2100" b="1" i="0">
                <a:solidFill>
                  <a:srgbClr val="241C44"/>
                </a:solidFill>
                <a:latin typeface="Trebuchet MS"/>
              </a:rPr>
              <a:t>Private Nutzer</a:t>
            </a:r>
          </a:p>
        </p:txBody>
      </p:sp>
      <p:sp>
        <p:nvSpPr>
          <p:cNvPr id="12" name="TextBox 11"/>
          <p:cNvSpPr txBox="1"/>
          <p:nvPr/>
        </p:nvSpPr>
        <p:spPr>
          <a:xfrm>
            <a:off x="1325880" y="2834640"/>
            <a:ext cx="4297680" cy="2743200"/>
          </a:xfrm>
          <a:prstGeom prst="rect">
            <a:avLst/>
          </a:prstGeom>
          <a:noFill/>
        </p:spPr>
        <p:txBody>
          <a:bodyPr wrap="square" lIns="45720" tIns="18288" rIns="45720" bIns="18288" anchor="t">
            <a:spAutoFit/>
          </a:bodyPr>
          <a:lstStyle/>
          <a:p>
            <a:pPr marL="228600" indent="-228600" algn="l">
              <a:spcBef>
                <a:spcPts val="0"/>
              </a:spcBef>
              <a:spcAft>
                <a:spcPts val="1200"/>
              </a:spcAft>
              <a:buFont typeface="Trebuchet MS"/>
              <a:buChar char="•"/>
            </a:pPr>
            <a:r>
              <a:rPr sz="1500" b="0" i="0">
                <a:solidFill>
                  <a:srgbClr val="F1EDE6"/>
                </a:solidFill>
                <a:latin typeface="Trebuchet MS"/>
              </a:rPr>
              <a:t>Mehr Überblick im Alltag</a:t>
            </a:r>
          </a:p>
          <a:p>
            <a:pPr marL="228600" indent="-228600" algn="l">
              <a:spcBef>
                <a:spcPts val="0"/>
              </a:spcBef>
              <a:spcAft>
                <a:spcPts val="1200"/>
              </a:spcAft>
              <a:buFont typeface="Trebuchet MS"/>
              <a:buChar char="•"/>
            </a:pPr>
            <a:r>
              <a:rPr sz="1500" b="0" i="0">
                <a:solidFill>
                  <a:srgbClr val="F1EDE6"/>
                </a:solidFill>
                <a:latin typeface="Trebuchet MS"/>
              </a:rPr>
              <a:t>Eigener privater Space</a:t>
            </a:r>
          </a:p>
          <a:p>
            <a:pPr marL="228600" indent="-228600" algn="l">
              <a:spcBef>
                <a:spcPts val="0"/>
              </a:spcBef>
              <a:spcAft>
                <a:spcPts val="1200"/>
              </a:spcAft>
              <a:buFont typeface="Trebuchet MS"/>
              <a:buChar char="•"/>
            </a:pPr>
            <a:r>
              <a:rPr sz="1500" b="0" i="0">
                <a:solidFill>
                  <a:srgbClr val="F1EDE6"/>
                </a:solidFill>
                <a:latin typeface="Trebuchet MS"/>
              </a:rPr>
              <a:t>Notizen, Aufgaben &amp; Termine an einem Ort</a:t>
            </a:r>
          </a:p>
          <a:p>
            <a:pPr marL="228600" indent="-228600" algn="l">
              <a:spcBef>
                <a:spcPts val="0"/>
              </a:spcBef>
              <a:spcAft>
                <a:spcPts val="1200"/>
              </a:spcAft>
              <a:buFont typeface="Trebuchet MS"/>
              <a:buChar char="•"/>
            </a:pPr>
            <a:r>
              <a:rPr sz="1500" b="0" i="0">
                <a:solidFill>
                  <a:srgbClr val="F1EDE6"/>
                </a:solidFill>
                <a:latin typeface="Trebuchet MS"/>
              </a:rPr>
              <a:t>Kein Setup, sofort nutzbar</a:t>
            </a:r>
          </a:p>
        </p:txBody>
      </p:sp>
      <p:sp>
        <p:nvSpPr>
          <p:cNvPr id="13" name="Rounded Rectangle 12"/>
          <p:cNvSpPr/>
          <p:nvPr/>
        </p:nvSpPr>
        <p:spPr>
          <a:xfrm>
            <a:off x="6309360" y="1691640"/>
            <a:ext cx="5074920" cy="4114800"/>
          </a:xfrm>
          <a:prstGeom prst="roundRect">
            <a:avLst>
              <a:gd name="adj" fmla="val 5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09360" y="1691640"/>
            <a:ext cx="5074920" cy="868680"/>
          </a:xfrm>
          <a:prstGeom prst="roundRect">
            <a:avLst>
              <a:gd name="adj" fmla="val 5000"/>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75120" y="1783080"/>
            <a:ext cx="4389120" cy="731520"/>
          </a:xfrm>
          <a:prstGeom prst="rect">
            <a:avLst/>
          </a:prstGeom>
          <a:noFill/>
        </p:spPr>
        <p:txBody>
          <a:bodyPr wrap="square" lIns="45720" tIns="18288" rIns="45720" bIns="18288" anchor="ctr">
            <a:spAutoFit/>
          </a:bodyPr>
          <a:lstStyle/>
          <a:p>
            <a:pPr algn="l">
              <a:spcBef>
                <a:spcPts val="0"/>
              </a:spcBef>
              <a:spcAft>
                <a:spcPts val="0"/>
              </a:spcAft>
            </a:pPr>
            <a:r>
              <a:rPr sz="2100" b="1" i="0">
                <a:solidFill>
                  <a:srgbClr val="241C44"/>
                </a:solidFill>
                <a:latin typeface="Trebuchet MS"/>
              </a:rPr>
              <a:t>Teams &amp; Projektgruppen</a:t>
            </a:r>
          </a:p>
        </p:txBody>
      </p:sp>
      <p:sp>
        <p:nvSpPr>
          <p:cNvPr id="16" name="TextBox 15"/>
          <p:cNvSpPr txBox="1"/>
          <p:nvPr/>
        </p:nvSpPr>
        <p:spPr>
          <a:xfrm>
            <a:off x="6766560" y="2834640"/>
            <a:ext cx="4297680" cy="2743200"/>
          </a:xfrm>
          <a:prstGeom prst="rect">
            <a:avLst/>
          </a:prstGeom>
          <a:noFill/>
        </p:spPr>
        <p:txBody>
          <a:bodyPr wrap="square" lIns="45720" tIns="18288" rIns="45720" bIns="18288" anchor="t">
            <a:spAutoFit/>
          </a:bodyPr>
          <a:lstStyle/>
          <a:p>
            <a:pPr marL="228600" indent="-228600" algn="l">
              <a:spcBef>
                <a:spcPts val="0"/>
              </a:spcBef>
              <a:spcAft>
                <a:spcPts val="1200"/>
              </a:spcAft>
              <a:buFont typeface="Trebuchet MS"/>
              <a:buChar char="•"/>
            </a:pPr>
            <a:r>
              <a:rPr sz="1500" b="0" i="0">
                <a:solidFill>
                  <a:srgbClr val="F1EDE6"/>
                </a:solidFill>
                <a:latin typeface="Trebuchet MS"/>
              </a:rPr>
              <a:t>Gemeinsames Planen &amp; Abarbeiten</a:t>
            </a:r>
          </a:p>
          <a:p>
            <a:pPr marL="228600" indent="-228600" algn="l">
              <a:spcBef>
                <a:spcPts val="0"/>
              </a:spcBef>
              <a:spcAft>
                <a:spcPts val="1200"/>
              </a:spcAft>
              <a:buFont typeface="Trebuchet MS"/>
              <a:buChar char="•"/>
            </a:pPr>
            <a:r>
              <a:rPr sz="1500" b="0" i="0">
                <a:solidFill>
                  <a:srgbClr val="F1EDE6"/>
                </a:solidFill>
                <a:latin typeface="Trebuchet MS"/>
              </a:rPr>
              <a:t>Workspaces mit Mitgliedern &amp; Rollen</a:t>
            </a:r>
          </a:p>
          <a:p>
            <a:pPr marL="228600" indent="-228600" algn="l">
              <a:spcBef>
                <a:spcPts val="0"/>
              </a:spcBef>
              <a:spcAft>
                <a:spcPts val="1200"/>
              </a:spcAft>
              <a:buFont typeface="Trebuchet MS"/>
              <a:buChar char="•"/>
            </a:pPr>
            <a:r>
              <a:rPr sz="1500" b="0" i="0">
                <a:solidFill>
                  <a:srgbClr val="F1EDE6"/>
                </a:solidFill>
                <a:latin typeface="Trebuchet MS"/>
              </a:rPr>
              <a:t>Live-Synchronisation der Arbeit</a:t>
            </a:r>
          </a:p>
          <a:p>
            <a:pPr marL="228600" indent="-228600" algn="l">
              <a:spcBef>
                <a:spcPts val="0"/>
              </a:spcBef>
              <a:spcAft>
                <a:spcPts val="1200"/>
              </a:spcAft>
              <a:buFont typeface="Trebuchet MS"/>
              <a:buChar char="•"/>
            </a:pPr>
            <a:r>
              <a:rPr sz="1500" b="0" i="0">
                <a:solidFill>
                  <a:srgbClr val="F1EDE6"/>
                </a:solidFill>
                <a:latin typeface="Trebuchet MS"/>
              </a:rPr>
              <a:t>Auch für Firmen geeignet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VOM LOGIN ZUM FEATURE</a:t>
            </a:r>
          </a:p>
          <a:p>
            <a:pPr algn="l">
              <a:spcBef>
                <a:spcPts val="0"/>
              </a:spcBef>
              <a:spcAft>
                <a:spcPts val="0"/>
              </a:spcAft>
            </a:pPr>
            <a:r>
              <a:rPr sz="3200" b="1" i="0">
                <a:solidFill>
                  <a:srgbClr val="F1EDE6"/>
                </a:solidFill>
                <a:latin typeface="Trebuchet MS"/>
              </a:rPr>
              <a:t>Der Aufbau</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7</a:t>
            </a:r>
          </a:p>
        </p:txBody>
      </p:sp>
      <p:sp>
        <p:nvSpPr>
          <p:cNvPr id="9" name="TextBox 8"/>
          <p:cNvSpPr txBox="1"/>
          <p:nvPr/>
        </p:nvSpPr>
        <p:spPr>
          <a:xfrm>
            <a:off x="868680" y="1417320"/>
            <a:ext cx="10424160" cy="640080"/>
          </a:xfrm>
          <a:prstGeom prst="rect">
            <a:avLst/>
          </a:prstGeom>
          <a:noFill/>
        </p:spPr>
        <p:txBody>
          <a:bodyPr wrap="square" lIns="45720" tIns="18288" rIns="45720" bIns="18288" anchor="t">
            <a:spAutoFit/>
          </a:bodyPr>
          <a:lstStyle/>
          <a:p>
            <a:pPr algn="l">
              <a:spcBef>
                <a:spcPts val="0"/>
              </a:spcBef>
              <a:spcAft>
                <a:spcPts val="0"/>
              </a:spcAft>
            </a:pPr>
            <a:r>
              <a:rPr sz="1600" b="0" i="0">
                <a:solidFill>
                  <a:srgbClr val="F1EDE6"/>
                </a:solidFill>
                <a:latin typeface="Trebuchet MS"/>
              </a:rPr>
              <a:t>Lumify führt den Nutzer in vier klaren Ebenen vom Login bis zur eigentlichen Arbeit:</a:t>
            </a:r>
          </a:p>
        </p:txBody>
      </p:sp>
      <p:sp>
        <p:nvSpPr>
          <p:cNvPr id="10" name="Rounded Rectangle 9"/>
          <p:cNvSpPr/>
          <p:nvPr/>
        </p:nvSpPr>
        <p:spPr>
          <a:xfrm>
            <a:off x="868680" y="2468880"/>
            <a:ext cx="2468880" cy="2194560"/>
          </a:xfrm>
          <a:prstGeom prst="roundRect">
            <a:avLst>
              <a:gd name="adj" fmla="val 9000"/>
            </a:avLst>
          </a:prstGeom>
          <a:solidFill>
            <a:srgbClr val="3A2F66"/>
          </a:solidFill>
          <a:ln w="19050">
            <a:solidFill>
              <a:srgbClr val="44B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143000" y="2743200"/>
            <a:ext cx="457200" cy="457200"/>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800" b="1">
                <a:solidFill>
                  <a:srgbClr val="241C44"/>
                </a:solidFill>
                <a:latin typeface="Trebuchet MS"/>
              </a:rPr>
              <a:t>1</a:t>
            </a:r>
          </a:p>
        </p:txBody>
      </p:sp>
      <p:sp>
        <p:nvSpPr>
          <p:cNvPr id="12" name="TextBox 11"/>
          <p:cNvSpPr txBox="1"/>
          <p:nvPr/>
        </p:nvSpPr>
        <p:spPr>
          <a:xfrm>
            <a:off x="1143000" y="3383280"/>
            <a:ext cx="1920240" cy="1188720"/>
          </a:xfrm>
          <a:prstGeom prst="rect">
            <a:avLst/>
          </a:prstGeom>
          <a:noFill/>
        </p:spPr>
        <p:txBody>
          <a:bodyPr wrap="square" lIns="45720" tIns="18288" rIns="45720" bIns="18288" anchor="t">
            <a:spAutoFit/>
          </a:bodyPr>
          <a:lstStyle/>
          <a:p>
            <a:pPr algn="l">
              <a:spcBef>
                <a:spcPts val="0"/>
              </a:spcBef>
              <a:spcAft>
                <a:spcPts val="400"/>
              </a:spcAft>
            </a:pPr>
            <a:r>
              <a:rPr sz="1900" b="1" i="0">
                <a:solidFill>
                  <a:srgbClr val="F1EDE6"/>
                </a:solidFill>
                <a:latin typeface="Trebuchet MS"/>
              </a:rPr>
              <a:t>Auth</a:t>
            </a:r>
          </a:p>
          <a:p>
            <a:pPr algn="l">
              <a:spcBef>
                <a:spcPts val="0"/>
              </a:spcBef>
              <a:spcAft>
                <a:spcPts val="0"/>
              </a:spcAft>
            </a:pPr>
            <a:r>
              <a:rPr sz="1250" b="0" i="0">
                <a:solidFill>
                  <a:srgbClr val="B9AFD6"/>
                </a:solidFill>
                <a:latin typeface="Trebuchet MS"/>
              </a:rPr>
              <a:t>Login, Registrierung &amp; MFA</a:t>
            </a:r>
          </a:p>
        </p:txBody>
      </p:sp>
      <p:sp>
        <p:nvSpPr>
          <p:cNvPr id="13" name="Chevron 12"/>
          <p:cNvSpPr/>
          <p:nvPr/>
        </p:nvSpPr>
        <p:spPr>
          <a:xfrm>
            <a:off x="3346704" y="3246120"/>
            <a:ext cx="292608" cy="640080"/>
          </a:xfrm>
          <a:prstGeom prst="chevron">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566160" y="2468880"/>
            <a:ext cx="2468880" cy="2194560"/>
          </a:xfrm>
          <a:prstGeom prst="roundRect">
            <a:avLst>
              <a:gd name="adj" fmla="val 9000"/>
            </a:avLst>
          </a:prstGeom>
          <a:solidFill>
            <a:srgbClr val="3A2F66"/>
          </a:solidFill>
          <a:ln w="19050">
            <a:solidFill>
              <a:srgbClr val="8560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840480" y="2743200"/>
            <a:ext cx="457200" cy="457200"/>
          </a:xfrm>
          <a:prstGeom prst="roundRect">
            <a:avLst>
              <a:gd name="adj" fmla="val 50000"/>
            </a:avLst>
          </a:prstGeom>
          <a:solidFill>
            <a:srgbClr val="8560DD"/>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800" b="1">
                <a:solidFill>
                  <a:srgbClr val="241C44"/>
                </a:solidFill>
                <a:latin typeface="Trebuchet MS"/>
              </a:rPr>
              <a:t>2</a:t>
            </a:r>
          </a:p>
        </p:txBody>
      </p:sp>
      <p:sp>
        <p:nvSpPr>
          <p:cNvPr id="16" name="TextBox 15"/>
          <p:cNvSpPr txBox="1"/>
          <p:nvPr/>
        </p:nvSpPr>
        <p:spPr>
          <a:xfrm>
            <a:off x="3840480" y="3383280"/>
            <a:ext cx="1920240" cy="1188720"/>
          </a:xfrm>
          <a:prstGeom prst="rect">
            <a:avLst/>
          </a:prstGeom>
          <a:noFill/>
        </p:spPr>
        <p:txBody>
          <a:bodyPr wrap="square" lIns="45720" tIns="18288" rIns="45720" bIns="18288" anchor="t">
            <a:spAutoFit/>
          </a:bodyPr>
          <a:lstStyle/>
          <a:p>
            <a:pPr algn="l">
              <a:spcBef>
                <a:spcPts val="0"/>
              </a:spcBef>
              <a:spcAft>
                <a:spcPts val="400"/>
              </a:spcAft>
            </a:pPr>
            <a:r>
              <a:rPr sz="1900" b="1" i="0">
                <a:solidFill>
                  <a:srgbClr val="F1EDE6"/>
                </a:solidFill>
                <a:latin typeface="Trebuchet MS"/>
              </a:rPr>
              <a:t>Dashboard</a:t>
            </a:r>
          </a:p>
          <a:p>
            <a:pPr algn="l">
              <a:spcBef>
                <a:spcPts val="0"/>
              </a:spcBef>
              <a:spcAft>
                <a:spcPts val="0"/>
              </a:spcAft>
            </a:pPr>
            <a:r>
              <a:rPr sz="1250" b="0" i="0">
                <a:solidFill>
                  <a:srgbClr val="B9AFD6"/>
                </a:solidFill>
                <a:latin typeface="Trebuchet MS"/>
              </a:rPr>
              <a:t>Workspaces, Freunde &amp; Letzte Aktivitaeten</a:t>
            </a:r>
          </a:p>
        </p:txBody>
      </p:sp>
      <p:sp>
        <p:nvSpPr>
          <p:cNvPr id="17" name="Chevron 16"/>
          <p:cNvSpPr/>
          <p:nvPr/>
        </p:nvSpPr>
        <p:spPr>
          <a:xfrm>
            <a:off x="6044184" y="3246120"/>
            <a:ext cx="292608" cy="640080"/>
          </a:xfrm>
          <a:prstGeom prst="chevron">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63640" y="2468880"/>
            <a:ext cx="2468880" cy="2194560"/>
          </a:xfrm>
          <a:prstGeom prst="roundRect">
            <a:avLst>
              <a:gd name="adj" fmla="val 9000"/>
            </a:avLst>
          </a:prstGeom>
          <a:solidFill>
            <a:srgbClr val="3A2F66"/>
          </a:solidFill>
          <a:ln w="19050">
            <a:solidFill>
              <a:srgbClr val="FFA2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537960" y="2743200"/>
            <a:ext cx="457200" cy="457200"/>
          </a:xfrm>
          <a:prstGeom prst="roundRect">
            <a:avLst>
              <a:gd name="adj" fmla="val 50000"/>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800" b="1">
                <a:solidFill>
                  <a:srgbClr val="241C44"/>
                </a:solidFill>
                <a:latin typeface="Trebuchet MS"/>
              </a:rPr>
              <a:t>3</a:t>
            </a:r>
          </a:p>
        </p:txBody>
      </p:sp>
      <p:sp>
        <p:nvSpPr>
          <p:cNvPr id="20" name="TextBox 19"/>
          <p:cNvSpPr txBox="1"/>
          <p:nvPr/>
        </p:nvSpPr>
        <p:spPr>
          <a:xfrm>
            <a:off x="6537960" y="3383280"/>
            <a:ext cx="1920240" cy="1188720"/>
          </a:xfrm>
          <a:prstGeom prst="rect">
            <a:avLst/>
          </a:prstGeom>
          <a:noFill/>
        </p:spPr>
        <p:txBody>
          <a:bodyPr wrap="square" lIns="45720" tIns="18288" rIns="45720" bIns="18288" anchor="t">
            <a:spAutoFit/>
          </a:bodyPr>
          <a:lstStyle/>
          <a:p>
            <a:pPr algn="l">
              <a:spcBef>
                <a:spcPts val="0"/>
              </a:spcBef>
              <a:spcAft>
                <a:spcPts val="400"/>
              </a:spcAft>
            </a:pPr>
            <a:r>
              <a:rPr sz="1900" b="1" i="0">
                <a:solidFill>
                  <a:srgbClr val="F1EDE6"/>
                </a:solidFill>
                <a:latin typeface="Trebuchet MS"/>
              </a:rPr>
              <a:t>Space</a:t>
            </a:r>
          </a:p>
          <a:p>
            <a:pPr algn="l">
              <a:spcBef>
                <a:spcPts val="0"/>
              </a:spcBef>
              <a:spcAft>
                <a:spcPts val="0"/>
              </a:spcAft>
            </a:pPr>
            <a:r>
              <a:rPr sz="1250" b="0" i="0">
                <a:solidFill>
                  <a:srgbClr val="B9AFD6"/>
                </a:solidFill>
                <a:latin typeface="Trebuchet MS"/>
              </a:rPr>
              <a:t>Privater Space oder Workspace</a:t>
            </a:r>
          </a:p>
        </p:txBody>
      </p:sp>
      <p:sp>
        <p:nvSpPr>
          <p:cNvPr id="21" name="Chevron 20"/>
          <p:cNvSpPr/>
          <p:nvPr/>
        </p:nvSpPr>
        <p:spPr>
          <a:xfrm>
            <a:off x="8741664" y="3246120"/>
            <a:ext cx="292608" cy="640080"/>
          </a:xfrm>
          <a:prstGeom prst="chevron">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961120" y="2468880"/>
            <a:ext cx="2468880" cy="2194560"/>
          </a:xfrm>
          <a:prstGeom prst="roundRect">
            <a:avLst>
              <a:gd name="adj" fmla="val 9000"/>
            </a:avLst>
          </a:prstGeom>
          <a:solidFill>
            <a:srgbClr val="3A2F66"/>
          </a:solidFill>
          <a:ln w="19050">
            <a:solidFill>
              <a:srgbClr val="76E3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235440" y="2743200"/>
            <a:ext cx="457200" cy="457200"/>
          </a:xfrm>
          <a:prstGeom prst="roundRect">
            <a:avLst>
              <a:gd name="adj" fmla="val 50000"/>
            </a:avLst>
          </a:prstGeom>
          <a:solidFill>
            <a:srgbClr val="76E3F1"/>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800" b="1">
                <a:solidFill>
                  <a:srgbClr val="241C44"/>
                </a:solidFill>
                <a:latin typeface="Trebuchet MS"/>
              </a:rPr>
              <a:t>4</a:t>
            </a:r>
          </a:p>
        </p:txBody>
      </p:sp>
      <p:sp>
        <p:nvSpPr>
          <p:cNvPr id="24" name="TextBox 23"/>
          <p:cNvSpPr txBox="1"/>
          <p:nvPr/>
        </p:nvSpPr>
        <p:spPr>
          <a:xfrm>
            <a:off x="9235440" y="3383280"/>
            <a:ext cx="1920240" cy="1188720"/>
          </a:xfrm>
          <a:prstGeom prst="rect">
            <a:avLst/>
          </a:prstGeom>
          <a:noFill/>
        </p:spPr>
        <p:txBody>
          <a:bodyPr wrap="square" lIns="45720" tIns="18288" rIns="45720" bIns="18288" anchor="t">
            <a:spAutoFit/>
          </a:bodyPr>
          <a:lstStyle/>
          <a:p>
            <a:pPr algn="l">
              <a:spcBef>
                <a:spcPts val="0"/>
              </a:spcBef>
              <a:spcAft>
                <a:spcPts val="400"/>
              </a:spcAft>
            </a:pPr>
            <a:r>
              <a:rPr sz="1900" b="1" i="0">
                <a:solidFill>
                  <a:srgbClr val="F1EDE6"/>
                </a:solidFill>
                <a:latin typeface="Trebuchet MS"/>
              </a:rPr>
              <a:t>Features</a:t>
            </a:r>
          </a:p>
          <a:p>
            <a:pPr algn="l">
              <a:spcBef>
                <a:spcPts val="0"/>
              </a:spcBef>
              <a:spcAft>
                <a:spcPts val="0"/>
              </a:spcAft>
            </a:pPr>
            <a:r>
              <a:rPr sz="1250" b="0" i="0">
                <a:solidFill>
                  <a:srgbClr val="B9AFD6"/>
                </a:solidFill>
                <a:latin typeface="Trebuchet MS"/>
              </a:rPr>
              <a:t>Notizen · Todos · Events</a:t>
            </a:r>
          </a:p>
        </p:txBody>
      </p:sp>
      <p:sp>
        <p:nvSpPr>
          <p:cNvPr id="25" name="TextBox 24"/>
          <p:cNvSpPr txBox="1"/>
          <p:nvPr/>
        </p:nvSpPr>
        <p:spPr>
          <a:xfrm>
            <a:off x="868680" y="5029200"/>
            <a:ext cx="10424160" cy="1097280"/>
          </a:xfrm>
          <a:prstGeom prst="rect">
            <a:avLst/>
          </a:prstGeom>
          <a:noFill/>
        </p:spPr>
        <p:txBody>
          <a:bodyPr wrap="square" lIns="45720" tIns="18288" rIns="45720" bIns="18288" anchor="t">
            <a:spAutoFit/>
          </a:bodyPr>
          <a:lstStyle/>
          <a:p>
            <a:pPr algn="l">
              <a:spcBef>
                <a:spcPts val="0"/>
              </a:spcBef>
              <a:spcAft>
                <a:spcPts val="0"/>
              </a:spcAft>
            </a:pPr>
            <a:r>
              <a:rPr sz="1500" b="1" i="0">
                <a:solidFill>
                  <a:srgbClr val="FFA228"/>
                </a:solidFill>
                <a:latin typeface="Trebuchet MS"/>
              </a:rPr>
              <a:t>Kerngedanke:  </a:t>
            </a:r>
            <a:r>
              <a:rPr sz="1500" b="0" i="0">
                <a:solidFill>
                  <a:srgbClr val="F1EDE6"/>
                </a:solidFill>
                <a:latin typeface="Trebuchet MS"/>
              </a:rPr>
              <a:t>Ein Space ist ein gekapselter Bereich - das Dashboard und die Feature-Auswahl (SpaceHub) sind für privaten Space und Workspace identisch. Nur der Inhalt unterscheidet sich.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DAS KERNKONZEPT: ADAPTIV &amp; ERWEITERBAR</a:t>
            </a:r>
          </a:p>
          <a:p>
            <a:pPr algn="l">
              <a:spcBef>
                <a:spcPts val="0"/>
              </a:spcBef>
              <a:spcAft>
                <a:spcPts val="0"/>
              </a:spcAft>
            </a:pPr>
            <a:r>
              <a:rPr sz="3200" b="1" i="0">
                <a:solidFill>
                  <a:srgbClr val="F1EDE6"/>
                </a:solidFill>
                <a:latin typeface="Trebuchet MS"/>
              </a:rPr>
              <a:t>Spaces &amp; Workspaces</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8</a:t>
            </a:r>
          </a:p>
        </p:txBody>
      </p:sp>
      <p:sp>
        <p:nvSpPr>
          <p:cNvPr id="9" name="Rounded Rectangle 8"/>
          <p:cNvSpPr/>
          <p:nvPr/>
        </p:nvSpPr>
        <p:spPr>
          <a:xfrm>
            <a:off x="640080" y="566928"/>
            <a:ext cx="82296" cy="566928"/>
          </a:xfrm>
          <a:prstGeom prst="roundRect">
            <a:avLst>
              <a:gd name="adj" fmla="val 50000"/>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DAS KERNKONZEPT: ADAPTIV &amp; ERWEITERBAR</a:t>
            </a:r>
          </a:p>
          <a:p>
            <a:pPr algn="l">
              <a:spcBef>
                <a:spcPts val="0"/>
              </a:spcBef>
              <a:spcAft>
                <a:spcPts val="0"/>
              </a:spcAft>
            </a:pPr>
            <a:r>
              <a:rPr sz="3200" b="1" i="0">
                <a:solidFill>
                  <a:srgbClr val="F1EDE6"/>
                </a:solidFill>
                <a:latin typeface="Trebuchet MS"/>
              </a:rPr>
              <a:t>Spaces &amp; Workspaces</a:t>
            </a:r>
          </a:p>
        </p:txBody>
      </p:sp>
      <p:sp>
        <p:nvSpPr>
          <p:cNvPr id="11" name="TextBox 10"/>
          <p:cNvSpPr txBox="1"/>
          <p:nvPr/>
        </p:nvSpPr>
        <p:spPr>
          <a:xfrm>
            <a:off x="868680" y="1417320"/>
            <a:ext cx="10424160" cy="822960"/>
          </a:xfrm>
          <a:prstGeom prst="rect">
            <a:avLst/>
          </a:prstGeom>
          <a:noFill/>
        </p:spPr>
        <p:txBody>
          <a:bodyPr wrap="square" lIns="45720" tIns="18288" rIns="45720" bIns="18288" anchor="t">
            <a:spAutoFit/>
          </a:bodyPr>
          <a:lstStyle/>
          <a:p>
            <a:pPr algn="l">
              <a:spcBef>
                <a:spcPts val="0"/>
              </a:spcBef>
              <a:spcAft>
                <a:spcPts val="0"/>
              </a:spcAft>
            </a:pPr>
            <a:r>
              <a:rPr sz="1700" b="0" i="0">
                <a:solidFill>
                  <a:srgbClr val="F1EDE6"/>
                </a:solidFill>
                <a:latin typeface="Trebuchet MS"/>
              </a:rPr>
              <a:t>Ein </a:t>
            </a:r>
            <a:r>
              <a:rPr sz="1700" b="1" i="0">
                <a:solidFill>
                  <a:srgbClr val="76E3F1"/>
                </a:solidFill>
                <a:latin typeface="Trebuchet MS"/>
              </a:rPr>
              <a:t>Space</a:t>
            </a:r>
            <a:r>
              <a:rPr sz="1700" b="0" i="0">
                <a:solidFill>
                  <a:srgbClr val="F1EDE6"/>
                </a:solidFill>
                <a:latin typeface="Trebuchet MS"/>
              </a:rPr>
              <a:t> ist ein gekapselter Bereich, der mit Features </a:t>
            </a:r>
            <a:r>
              <a:rPr sz="1700" b="1" i="0">
                <a:solidFill>
                  <a:srgbClr val="FFA228"/>
                </a:solidFill>
                <a:latin typeface="Trebuchet MS"/>
              </a:rPr>
              <a:t>befüllt</a:t>
            </a:r>
            <a:r>
              <a:rPr sz="1700" b="0" i="0">
                <a:solidFill>
                  <a:srgbClr val="F1EDE6"/>
                </a:solidFill>
                <a:latin typeface="Trebuchet MS"/>
              </a:rPr>
              <a:t> wird - wie ein leerer Raum, in den man Module stellt.</a:t>
            </a:r>
          </a:p>
        </p:txBody>
      </p:sp>
      <p:sp>
        <p:nvSpPr>
          <p:cNvPr id="12" name="Rounded Rectangle 11"/>
          <p:cNvSpPr/>
          <p:nvPr/>
        </p:nvSpPr>
        <p:spPr>
          <a:xfrm>
            <a:off x="868680" y="2377440"/>
            <a:ext cx="5486400" cy="3474720"/>
          </a:xfrm>
          <a:prstGeom prst="roundRect">
            <a:avLst>
              <a:gd name="adj" fmla="val 5000"/>
            </a:avLst>
          </a:prstGeom>
          <a:solidFill>
            <a:srgbClr val="2B2147"/>
          </a:solidFill>
          <a:ln w="19050">
            <a:solidFill>
              <a:srgbClr val="FFA2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2514600"/>
            <a:ext cx="4937760" cy="457200"/>
          </a:xfrm>
          <a:prstGeom prst="rect">
            <a:avLst/>
          </a:prstGeom>
          <a:noFill/>
        </p:spPr>
        <p:txBody>
          <a:bodyPr wrap="square" lIns="45720" tIns="18288" rIns="45720" bIns="18288" anchor="t">
            <a:spAutoFit/>
          </a:bodyPr>
          <a:lstStyle/>
          <a:p>
            <a:pPr algn="l">
              <a:spcBef>
                <a:spcPts val="0"/>
              </a:spcBef>
              <a:spcAft>
                <a:spcPts val="0"/>
              </a:spcAft>
            </a:pPr>
            <a:r>
              <a:rPr sz="1500" b="1" i="0">
                <a:solidFill>
                  <a:srgbClr val="FFA228"/>
                </a:solidFill>
                <a:latin typeface="Trebuchet MS"/>
              </a:rPr>
              <a:t>Workspace  ·  z. B. „Projekt X“</a:t>
            </a:r>
          </a:p>
        </p:txBody>
      </p:sp>
      <p:sp>
        <p:nvSpPr>
          <p:cNvPr id="14" name="Rounded Rectangle 13"/>
          <p:cNvSpPr/>
          <p:nvPr/>
        </p:nvSpPr>
        <p:spPr>
          <a:xfrm>
            <a:off x="1143000" y="3108960"/>
            <a:ext cx="2377440" cy="1051560"/>
          </a:xfrm>
          <a:prstGeom prst="roundRect">
            <a:avLst>
              <a:gd name="adj" fmla="val 12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371600" y="3401568"/>
            <a:ext cx="457200" cy="457200"/>
          </a:xfrm>
          <a:prstGeom prst="ellipse">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11680" y="3108960"/>
            <a:ext cx="1463040" cy="1051560"/>
          </a:xfrm>
          <a:prstGeom prst="rect">
            <a:avLst/>
          </a:prstGeom>
          <a:noFill/>
        </p:spPr>
        <p:txBody>
          <a:bodyPr wrap="square" lIns="45720" tIns="18288" rIns="45720" bIns="18288" anchor="ctr">
            <a:spAutoFit/>
          </a:bodyPr>
          <a:lstStyle/>
          <a:p>
            <a:pPr algn="l">
              <a:spcBef>
                <a:spcPts val="0"/>
              </a:spcBef>
              <a:spcAft>
                <a:spcPts val="0"/>
              </a:spcAft>
            </a:pPr>
            <a:r>
              <a:rPr sz="1500" b="1" i="0">
                <a:solidFill>
                  <a:srgbClr val="F1EDE6"/>
                </a:solidFill>
                <a:latin typeface="Trebuchet MS"/>
              </a:rPr>
              <a:t>Notizen</a:t>
            </a:r>
          </a:p>
        </p:txBody>
      </p:sp>
      <p:sp>
        <p:nvSpPr>
          <p:cNvPr id="17" name="Rounded Rectangle 16"/>
          <p:cNvSpPr/>
          <p:nvPr/>
        </p:nvSpPr>
        <p:spPr>
          <a:xfrm>
            <a:off x="3749040" y="3108960"/>
            <a:ext cx="2377440" cy="1051560"/>
          </a:xfrm>
          <a:prstGeom prst="roundRect">
            <a:avLst>
              <a:gd name="adj" fmla="val 12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977640" y="3401568"/>
            <a:ext cx="457200" cy="457200"/>
          </a:xfrm>
          <a:prstGeom prst="ellipse">
            <a:avLst/>
          </a:prstGeom>
          <a:solidFill>
            <a:srgbClr val="856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17720" y="3108960"/>
            <a:ext cx="1463040" cy="1051560"/>
          </a:xfrm>
          <a:prstGeom prst="rect">
            <a:avLst/>
          </a:prstGeom>
          <a:noFill/>
        </p:spPr>
        <p:txBody>
          <a:bodyPr wrap="square" lIns="45720" tIns="18288" rIns="45720" bIns="18288" anchor="ctr">
            <a:spAutoFit/>
          </a:bodyPr>
          <a:lstStyle/>
          <a:p>
            <a:pPr algn="l">
              <a:spcBef>
                <a:spcPts val="0"/>
              </a:spcBef>
              <a:spcAft>
                <a:spcPts val="0"/>
              </a:spcAft>
            </a:pPr>
            <a:r>
              <a:rPr sz="1500" b="1" i="0">
                <a:solidFill>
                  <a:srgbClr val="F1EDE6"/>
                </a:solidFill>
                <a:latin typeface="Trebuchet MS"/>
              </a:rPr>
              <a:t>Todos</a:t>
            </a:r>
          </a:p>
        </p:txBody>
      </p:sp>
      <p:sp>
        <p:nvSpPr>
          <p:cNvPr id="20" name="Rounded Rectangle 19"/>
          <p:cNvSpPr/>
          <p:nvPr/>
        </p:nvSpPr>
        <p:spPr>
          <a:xfrm>
            <a:off x="1143000" y="4343400"/>
            <a:ext cx="2377440" cy="1051560"/>
          </a:xfrm>
          <a:prstGeom prst="roundRect">
            <a:avLst>
              <a:gd name="adj" fmla="val 12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371600" y="4636008"/>
            <a:ext cx="457200" cy="457200"/>
          </a:xfrm>
          <a:prstGeom prst="ellipse">
            <a:avLst/>
          </a:prstGeom>
          <a:solidFill>
            <a:srgbClr val="76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11680" y="4343400"/>
            <a:ext cx="1463040" cy="1051560"/>
          </a:xfrm>
          <a:prstGeom prst="rect">
            <a:avLst/>
          </a:prstGeom>
          <a:noFill/>
        </p:spPr>
        <p:txBody>
          <a:bodyPr wrap="square" lIns="45720" tIns="18288" rIns="45720" bIns="18288" anchor="ctr">
            <a:spAutoFit/>
          </a:bodyPr>
          <a:lstStyle/>
          <a:p>
            <a:pPr algn="l">
              <a:spcBef>
                <a:spcPts val="0"/>
              </a:spcBef>
              <a:spcAft>
                <a:spcPts val="0"/>
              </a:spcAft>
            </a:pPr>
            <a:r>
              <a:rPr sz="1500" b="1" i="0">
                <a:solidFill>
                  <a:srgbClr val="F1EDE6"/>
                </a:solidFill>
                <a:latin typeface="Trebuchet MS"/>
              </a:rPr>
              <a:t>Events</a:t>
            </a:r>
          </a:p>
        </p:txBody>
      </p:sp>
      <p:sp>
        <p:nvSpPr>
          <p:cNvPr id="23" name="Rounded Rectangle 22"/>
          <p:cNvSpPr/>
          <p:nvPr/>
        </p:nvSpPr>
        <p:spPr>
          <a:xfrm>
            <a:off x="3749040" y="4343400"/>
            <a:ext cx="2377440" cy="1051560"/>
          </a:xfrm>
          <a:prstGeom prst="roundRect">
            <a:avLst>
              <a:gd name="adj" fmla="val 12000"/>
            </a:avLst>
          </a:prstGeom>
          <a:solidFill>
            <a:srgbClr val="3A2F66"/>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977640" y="4636008"/>
            <a:ext cx="457200" cy="45720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17720" y="4343400"/>
            <a:ext cx="1463040" cy="1051560"/>
          </a:xfrm>
          <a:prstGeom prst="rect">
            <a:avLst/>
          </a:prstGeom>
          <a:noFill/>
        </p:spPr>
        <p:txBody>
          <a:bodyPr wrap="square" lIns="45720" tIns="18288" rIns="45720" bIns="18288" anchor="ctr">
            <a:spAutoFit/>
          </a:bodyPr>
          <a:lstStyle/>
          <a:p>
            <a:pPr algn="l">
              <a:spcBef>
                <a:spcPts val="0"/>
              </a:spcBef>
              <a:spcAft>
                <a:spcPts val="0"/>
              </a:spcAft>
            </a:pPr>
            <a:r>
              <a:rPr sz="1500" b="1" i="0">
                <a:solidFill>
                  <a:srgbClr val="F1EDE6"/>
                </a:solidFill>
                <a:latin typeface="Trebuchet MS"/>
              </a:rPr>
              <a:t>+ kuenftig…</a:t>
            </a:r>
          </a:p>
        </p:txBody>
      </p:sp>
      <p:sp>
        <p:nvSpPr>
          <p:cNvPr id="26" name="Rounded Rectangle 25"/>
          <p:cNvSpPr/>
          <p:nvPr/>
        </p:nvSpPr>
        <p:spPr>
          <a:xfrm>
            <a:off x="6583680" y="2377440"/>
            <a:ext cx="4709160" cy="786384"/>
          </a:xfrm>
          <a:prstGeom prst="roundRect">
            <a:avLst>
              <a:gd name="adj" fmla="val 10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784848" y="2542032"/>
            <a:ext cx="82296" cy="457200"/>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059168" y="2450592"/>
            <a:ext cx="4114800" cy="685800"/>
          </a:xfrm>
          <a:prstGeom prst="rect">
            <a:avLst/>
          </a:prstGeom>
          <a:noFill/>
        </p:spPr>
        <p:txBody>
          <a:bodyPr wrap="square" lIns="45720" tIns="18288" rIns="45720" bIns="18288" anchor="ctr">
            <a:spAutoFit/>
          </a:bodyPr>
          <a:lstStyle/>
          <a:p>
            <a:pPr algn="l">
              <a:spcBef>
                <a:spcPts val="0"/>
              </a:spcBef>
              <a:spcAft>
                <a:spcPts val="0"/>
              </a:spcAft>
            </a:pPr>
            <a:r>
              <a:rPr sz="1350" b="1" i="0">
                <a:solidFill>
                  <a:srgbClr val="76E3F1"/>
                </a:solidFill>
                <a:latin typeface="Trebuchet MS"/>
              </a:rPr>
              <a:t>Adaptiv:  </a:t>
            </a:r>
            <a:r>
              <a:rPr sz="1350" b="0" i="0">
                <a:solidFill>
                  <a:srgbClr val="F1EDE6"/>
                </a:solidFill>
                <a:latin typeface="Trebuchet MS"/>
              </a:rPr>
              <a:t>Jeder Space nutzt nur die Features, die er braucht.</a:t>
            </a:r>
          </a:p>
        </p:txBody>
      </p:sp>
      <p:sp>
        <p:nvSpPr>
          <p:cNvPr id="29" name="Rounded Rectangle 28"/>
          <p:cNvSpPr/>
          <p:nvPr/>
        </p:nvSpPr>
        <p:spPr>
          <a:xfrm>
            <a:off x="6583680" y="3264408"/>
            <a:ext cx="4709160" cy="786384"/>
          </a:xfrm>
          <a:prstGeom prst="roundRect">
            <a:avLst>
              <a:gd name="adj" fmla="val 10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784848" y="3429000"/>
            <a:ext cx="82296" cy="457200"/>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059168" y="3337560"/>
            <a:ext cx="4114800" cy="685800"/>
          </a:xfrm>
          <a:prstGeom prst="rect">
            <a:avLst/>
          </a:prstGeom>
          <a:noFill/>
        </p:spPr>
        <p:txBody>
          <a:bodyPr wrap="square" lIns="45720" tIns="18288" rIns="45720" bIns="18288" anchor="ctr">
            <a:spAutoFit/>
          </a:bodyPr>
          <a:lstStyle/>
          <a:p>
            <a:pPr algn="l">
              <a:spcBef>
                <a:spcPts val="0"/>
              </a:spcBef>
              <a:spcAft>
                <a:spcPts val="0"/>
              </a:spcAft>
            </a:pPr>
            <a:r>
              <a:rPr sz="1350" b="1" i="0">
                <a:solidFill>
                  <a:srgbClr val="76E3F1"/>
                </a:solidFill>
                <a:latin typeface="Trebuchet MS"/>
              </a:rPr>
              <a:t>Erweiterbar:  </a:t>
            </a:r>
            <a:r>
              <a:rPr sz="1350" b="0" i="0">
                <a:solidFill>
                  <a:srgbClr val="F1EDE6"/>
                </a:solidFill>
                <a:latin typeface="Trebuchet MS"/>
              </a:rPr>
              <a:t>Neue Features = neues Modul - der Aufbau ist darauf ausgelegt.</a:t>
            </a:r>
          </a:p>
        </p:txBody>
      </p:sp>
      <p:sp>
        <p:nvSpPr>
          <p:cNvPr id="32" name="Rounded Rectangle 31"/>
          <p:cNvSpPr/>
          <p:nvPr/>
        </p:nvSpPr>
        <p:spPr>
          <a:xfrm>
            <a:off x="6583680" y="4151376"/>
            <a:ext cx="4709160" cy="786384"/>
          </a:xfrm>
          <a:prstGeom prst="roundRect">
            <a:avLst>
              <a:gd name="adj" fmla="val 10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784848" y="4315968"/>
            <a:ext cx="82296" cy="457200"/>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59168" y="4224528"/>
            <a:ext cx="4114800" cy="685800"/>
          </a:xfrm>
          <a:prstGeom prst="rect">
            <a:avLst/>
          </a:prstGeom>
          <a:noFill/>
        </p:spPr>
        <p:txBody>
          <a:bodyPr wrap="square" lIns="45720" tIns="18288" rIns="45720" bIns="18288" anchor="ctr">
            <a:spAutoFit/>
          </a:bodyPr>
          <a:lstStyle/>
          <a:p>
            <a:pPr algn="l">
              <a:spcBef>
                <a:spcPts val="0"/>
              </a:spcBef>
              <a:spcAft>
                <a:spcPts val="0"/>
              </a:spcAft>
            </a:pPr>
            <a:r>
              <a:rPr sz="1350" b="1" i="0">
                <a:solidFill>
                  <a:srgbClr val="76E3F1"/>
                </a:solidFill>
                <a:latin typeface="Trebuchet MS"/>
              </a:rPr>
              <a:t>Gekapselt:  </a:t>
            </a:r>
            <a:r>
              <a:rPr sz="1350" b="0" i="0">
                <a:solidFill>
                  <a:srgbClr val="F1EDE6"/>
                </a:solidFill>
                <a:latin typeface="Trebuchet MS"/>
              </a:rPr>
              <a:t>Daten &amp; Rechte bleiben pro Space getrennt und sauber isoliert.</a:t>
            </a:r>
          </a:p>
        </p:txBody>
      </p:sp>
      <p:sp>
        <p:nvSpPr>
          <p:cNvPr id="35" name="Rounded Rectangle 34"/>
          <p:cNvSpPr/>
          <p:nvPr/>
        </p:nvSpPr>
        <p:spPr>
          <a:xfrm>
            <a:off x="6583680" y="5038344"/>
            <a:ext cx="4709160" cy="786384"/>
          </a:xfrm>
          <a:prstGeom prst="roundRect">
            <a:avLst>
              <a:gd name="adj" fmla="val 10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784848" y="5202936"/>
            <a:ext cx="82296" cy="457200"/>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059168" y="5228180"/>
            <a:ext cx="4114800" cy="452432"/>
          </a:xfrm>
          <a:prstGeom prst="rect">
            <a:avLst/>
          </a:prstGeom>
          <a:noFill/>
        </p:spPr>
        <p:txBody>
          <a:bodyPr wrap="square" lIns="45720" tIns="18288" rIns="45720" bIns="18288" anchor="ctr">
            <a:spAutoFit/>
          </a:bodyPr>
          <a:lstStyle/>
          <a:p>
            <a:pPr algn="l">
              <a:spcBef>
                <a:spcPts val="0"/>
              </a:spcBef>
              <a:spcAft>
                <a:spcPts val="0"/>
              </a:spcAft>
            </a:pPr>
            <a:r>
              <a:rPr sz="1350" b="1" i="0" dirty="0" err="1">
                <a:solidFill>
                  <a:srgbClr val="76E3F1"/>
                </a:solidFill>
                <a:latin typeface="Trebuchet MS"/>
              </a:rPr>
              <a:t>Einheitlich</a:t>
            </a:r>
            <a:r>
              <a:rPr sz="1350" b="1" i="0" dirty="0">
                <a:solidFill>
                  <a:srgbClr val="76E3F1"/>
                </a:solidFill>
                <a:latin typeface="Trebuchet MS"/>
              </a:rPr>
              <a:t>:  </a:t>
            </a:r>
            <a:r>
              <a:rPr sz="1350" b="0" i="0" dirty="0" err="1">
                <a:solidFill>
                  <a:srgbClr val="F1EDE6"/>
                </a:solidFill>
                <a:latin typeface="Trebuchet MS"/>
              </a:rPr>
              <a:t>Privater</a:t>
            </a:r>
            <a:r>
              <a:rPr sz="1350" b="0" i="0" dirty="0">
                <a:solidFill>
                  <a:srgbClr val="F1EDE6"/>
                </a:solidFill>
                <a:latin typeface="Trebuchet MS"/>
              </a:rPr>
              <a:t> Space und Workspace </a:t>
            </a:r>
            <a:r>
              <a:rPr sz="1350" b="0" i="0" dirty="0" err="1">
                <a:solidFill>
                  <a:srgbClr val="F1EDE6"/>
                </a:solidFill>
                <a:latin typeface="Trebuchet MS"/>
              </a:rPr>
              <a:t>teilen</a:t>
            </a:r>
            <a:r>
              <a:rPr sz="1350" b="0" i="0" dirty="0">
                <a:solidFill>
                  <a:srgbClr val="F1EDE6"/>
                </a:solidFill>
                <a:latin typeface="Trebuchet MS"/>
              </a:rPr>
              <a:t> die</a:t>
            </a:r>
            <a:r>
              <a:rPr lang="de-AT" sz="1350" b="0" i="0" dirty="0">
                <a:solidFill>
                  <a:srgbClr val="F1EDE6"/>
                </a:solidFill>
                <a:latin typeface="Trebuchet MS"/>
              </a:rPr>
              <a:t> </a:t>
            </a:r>
            <a:r>
              <a:rPr sz="1350" b="0" i="0" dirty="0" err="1">
                <a:solidFill>
                  <a:srgbClr val="F1EDE6"/>
                </a:solidFill>
                <a:latin typeface="Trebuchet MS"/>
              </a:rPr>
              <a:t>selbe</a:t>
            </a:r>
            <a:r>
              <a:rPr sz="1350" b="0" i="0" dirty="0">
                <a:solidFill>
                  <a:srgbClr val="F1EDE6"/>
                </a:solidFill>
                <a:latin typeface="Trebuchet MS"/>
              </a:rPr>
              <a:t> Mechanik.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DIE KERN-FEATURES</a:t>
            </a:r>
          </a:p>
          <a:p>
            <a:pPr algn="l">
              <a:spcBef>
                <a:spcPts val="0"/>
              </a:spcBef>
              <a:spcAft>
                <a:spcPts val="0"/>
              </a:spcAft>
            </a:pPr>
            <a:r>
              <a:rPr sz="3200" b="1" i="0">
                <a:solidFill>
                  <a:srgbClr val="F1EDE6"/>
                </a:solidFill>
                <a:latin typeface="Trebuchet MS"/>
              </a:rPr>
              <a:t>Feature: Notizen</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9</a:t>
            </a:r>
          </a:p>
        </p:txBody>
      </p:sp>
      <p:sp>
        <p:nvSpPr>
          <p:cNvPr id="9" name="Rounded Rectangle 8"/>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DIE KERN-FEATURES</a:t>
            </a:r>
          </a:p>
          <a:p>
            <a:pPr algn="l">
              <a:spcBef>
                <a:spcPts val="0"/>
              </a:spcBef>
              <a:spcAft>
                <a:spcPts val="0"/>
              </a:spcAft>
            </a:pPr>
            <a:r>
              <a:rPr sz="3200" b="1" i="0">
                <a:solidFill>
                  <a:srgbClr val="F1EDE6"/>
                </a:solidFill>
                <a:latin typeface="Trebuchet MS"/>
              </a:rPr>
              <a:t>Feature: Notizen</a:t>
            </a:r>
          </a:p>
        </p:txBody>
      </p:sp>
      <p:sp>
        <p:nvSpPr>
          <p:cNvPr id="11" name="Rounded Rectangle 10"/>
          <p:cNvSpPr/>
          <p:nvPr/>
        </p:nvSpPr>
        <p:spPr>
          <a:xfrm>
            <a:off x="868680" y="1463040"/>
            <a:ext cx="3063240" cy="420624"/>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300" b="1">
                <a:solidFill>
                  <a:srgbClr val="241C44"/>
                </a:solidFill>
                <a:latin typeface="Trebuchet MS"/>
              </a:rPr>
              <a:t>Wissen ablegen &amp; strukturieren</a:t>
            </a:r>
          </a:p>
        </p:txBody>
      </p:sp>
      <p:sp>
        <p:nvSpPr>
          <p:cNvPr id="12" name="TextBox 11"/>
          <p:cNvSpPr txBox="1"/>
          <p:nvPr/>
        </p:nvSpPr>
        <p:spPr>
          <a:xfrm>
            <a:off x="868680" y="2057400"/>
            <a:ext cx="5486400" cy="822960"/>
          </a:xfrm>
          <a:prstGeom prst="rect">
            <a:avLst/>
          </a:prstGeom>
          <a:noFill/>
        </p:spPr>
        <p:txBody>
          <a:bodyPr wrap="square" lIns="45720" tIns="18288" rIns="45720" bIns="18288" anchor="t">
            <a:spAutoFit/>
          </a:bodyPr>
          <a:lstStyle/>
          <a:p>
            <a:pPr algn="l">
              <a:spcBef>
                <a:spcPts val="0"/>
              </a:spcBef>
              <a:spcAft>
                <a:spcPts val="0"/>
              </a:spcAft>
            </a:pPr>
            <a:r>
              <a:rPr sz="1550" b="0" i="0">
                <a:solidFill>
                  <a:srgbClr val="F1EDE6"/>
                </a:solidFill>
                <a:latin typeface="Trebuchet MS"/>
              </a:rPr>
              <a:t>Ein Datei-Browser für Notizen: Ordner anlegen, Notizen organisieren und aus Bausteinen aufbauen.</a:t>
            </a:r>
          </a:p>
        </p:txBody>
      </p:sp>
      <p:sp>
        <p:nvSpPr>
          <p:cNvPr id="13" name="TextBox 12"/>
          <p:cNvSpPr txBox="1"/>
          <p:nvPr/>
        </p:nvSpPr>
        <p:spPr>
          <a:xfrm>
            <a:off x="868680" y="2971800"/>
            <a:ext cx="5486400" cy="965392"/>
          </a:xfrm>
          <a:prstGeom prst="rect">
            <a:avLst/>
          </a:prstGeom>
          <a:noFill/>
        </p:spPr>
        <p:txBody>
          <a:bodyPr wrap="square" lIns="45720" tIns="18288" rIns="45720" bIns="18288" anchor="t">
            <a:spAutoFit/>
          </a:bodyPr>
          <a:lstStyle/>
          <a:p>
            <a:pPr marL="228600" indent="-228600">
              <a:spcAft>
                <a:spcPts val="1100"/>
              </a:spcAft>
              <a:buFont typeface="Trebuchet MS"/>
              <a:buChar char="•"/>
            </a:pPr>
            <a:r>
              <a:rPr sz="1400" b="0" i="0" dirty="0" err="1">
                <a:solidFill>
                  <a:srgbClr val="F1EDE6"/>
                </a:solidFill>
                <a:latin typeface="Trebuchet MS"/>
              </a:rPr>
              <a:t>Datei</a:t>
            </a:r>
            <a:r>
              <a:rPr sz="1400" b="0" i="0" dirty="0">
                <a:solidFill>
                  <a:srgbClr val="F1EDE6"/>
                </a:solidFill>
                <a:latin typeface="Trebuchet MS"/>
              </a:rPr>
              <a:t>-Browser </a:t>
            </a:r>
            <a:r>
              <a:rPr sz="1400" b="0" i="0" dirty="0" err="1">
                <a:solidFill>
                  <a:srgbClr val="F1EDE6"/>
                </a:solidFill>
                <a:latin typeface="Trebuchet MS"/>
              </a:rPr>
              <a:t>mit</a:t>
            </a:r>
            <a:r>
              <a:rPr sz="1400" b="0" i="0" dirty="0">
                <a:solidFill>
                  <a:srgbClr val="F1EDE6"/>
                </a:solidFill>
                <a:latin typeface="Trebuchet MS"/>
              </a:rPr>
              <a:t> </a:t>
            </a:r>
            <a:r>
              <a:rPr sz="1400" b="0" i="0" dirty="0" err="1">
                <a:solidFill>
                  <a:srgbClr val="F1EDE6"/>
                </a:solidFill>
                <a:latin typeface="Trebuchet MS"/>
              </a:rPr>
              <a:t>Ordnern</a:t>
            </a:r>
            <a:r>
              <a:rPr lang="de-AT" sz="1400" dirty="0">
                <a:solidFill>
                  <a:srgbClr val="F1EDE6"/>
                </a:solidFill>
                <a:latin typeface="Trebuchet MS"/>
              </a:rPr>
              <a:t>: </a:t>
            </a:r>
            <a:r>
              <a:rPr sz="1400" b="0" i="0" dirty="0">
                <a:solidFill>
                  <a:srgbClr val="FFC000"/>
                </a:solidFill>
                <a:latin typeface="Trebuchet MS"/>
              </a:rPr>
              <a:t>Tree-View</a:t>
            </a:r>
            <a:r>
              <a:rPr lang="de-AT" sz="1400" dirty="0">
                <a:solidFill>
                  <a:srgbClr val="FFC000"/>
                </a:solidFill>
                <a:latin typeface="Trebuchet MS"/>
              </a:rPr>
              <a:t> &amp; </a:t>
            </a:r>
            <a:r>
              <a:rPr lang="de-AT" sz="1400" b="0" i="0" dirty="0">
                <a:solidFill>
                  <a:srgbClr val="FFC000"/>
                </a:solidFill>
                <a:latin typeface="Trebuchet MS"/>
              </a:rPr>
              <a:t>FileView</a:t>
            </a:r>
          </a:p>
          <a:p>
            <a:pPr marL="228600" indent="-228600" algn="l">
              <a:spcBef>
                <a:spcPts val="0"/>
              </a:spcBef>
              <a:spcAft>
                <a:spcPts val="1100"/>
              </a:spcAft>
              <a:buFont typeface="Trebuchet MS"/>
              <a:buChar char="•"/>
            </a:pPr>
            <a:r>
              <a:rPr lang="de-AT" sz="1400" b="0" i="0" dirty="0">
                <a:solidFill>
                  <a:srgbClr val="F1EDE6"/>
                </a:solidFill>
                <a:latin typeface="Trebuchet MS"/>
              </a:rPr>
              <a:t>Notizen bestehen aus Blöcken: </a:t>
            </a:r>
            <a:r>
              <a:rPr lang="de-AT" sz="1400" b="1" i="0" dirty="0">
                <a:solidFill>
                  <a:srgbClr val="FFC000"/>
                </a:solidFill>
                <a:latin typeface="Trebuchet MS"/>
              </a:rPr>
              <a:t>Textblöcke, Codeblöcke &amp; Links</a:t>
            </a:r>
          </a:p>
          <a:p>
            <a:pPr marL="228600" indent="-228600" algn="l">
              <a:spcBef>
                <a:spcPts val="0"/>
              </a:spcBef>
              <a:spcAft>
                <a:spcPts val="1100"/>
              </a:spcAft>
              <a:buFont typeface="Trebuchet MS"/>
              <a:buChar char="•"/>
            </a:pPr>
            <a:r>
              <a:rPr sz="1400" b="0" i="0" dirty="0" err="1">
                <a:solidFill>
                  <a:srgbClr val="F1EDE6"/>
                </a:solidFill>
                <a:latin typeface="Trebuchet MS"/>
              </a:rPr>
              <a:t>Änderungen</a:t>
            </a:r>
            <a:r>
              <a:rPr sz="1400" b="0" i="0" dirty="0">
                <a:solidFill>
                  <a:srgbClr val="F1EDE6"/>
                </a:solidFill>
                <a:latin typeface="Trebuchet MS"/>
              </a:rPr>
              <a:t> live für alle </a:t>
            </a:r>
            <a:r>
              <a:rPr sz="1400" b="0" i="0" dirty="0" err="1">
                <a:solidFill>
                  <a:srgbClr val="F1EDE6"/>
                </a:solidFill>
                <a:latin typeface="Trebuchet MS"/>
              </a:rPr>
              <a:t>im</a:t>
            </a:r>
            <a:r>
              <a:rPr sz="1400" b="0" i="0" dirty="0">
                <a:solidFill>
                  <a:srgbClr val="F1EDE6"/>
                </a:solidFill>
                <a:latin typeface="Trebuchet MS"/>
              </a:rPr>
              <a:t> Space </a:t>
            </a:r>
            <a:r>
              <a:rPr sz="1400" b="0" i="0" dirty="0" err="1">
                <a:solidFill>
                  <a:srgbClr val="F1EDE6"/>
                </a:solidFill>
                <a:latin typeface="Trebuchet MS"/>
              </a:rPr>
              <a:t>sichtbar</a:t>
            </a:r>
            <a:endParaRPr sz="1400" b="0" i="0" dirty="0">
              <a:solidFill>
                <a:srgbClr val="F1EDE6"/>
              </a:solidFill>
              <a:latin typeface="Trebuchet MS"/>
            </a:endParaRPr>
          </a:p>
        </p:txBody>
      </p:sp>
      <p:sp>
        <p:nvSpPr>
          <p:cNvPr id="14" name="Rounded Rectangle 13"/>
          <p:cNvSpPr/>
          <p:nvPr/>
        </p:nvSpPr>
        <p:spPr>
          <a:xfrm>
            <a:off x="6858000" y="1600200"/>
            <a:ext cx="4434840" cy="4297680"/>
          </a:xfrm>
          <a:prstGeom prst="roundRect">
            <a:avLst>
              <a:gd name="adj" fmla="val 5000"/>
            </a:avLst>
          </a:prstGeom>
          <a:solidFill>
            <a:srgbClr val="2B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858000" y="1600200"/>
            <a:ext cx="4434840" cy="548640"/>
          </a:xfrm>
          <a:prstGeom prst="roundRect">
            <a:avLst>
              <a:gd name="adj" fmla="val 5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0" y="1645920"/>
            <a:ext cx="3931920" cy="457200"/>
          </a:xfrm>
          <a:prstGeom prst="rect">
            <a:avLst/>
          </a:prstGeom>
          <a:noFill/>
        </p:spPr>
        <p:txBody>
          <a:bodyPr wrap="square" lIns="45720" tIns="18288" rIns="45720" bIns="18288" anchor="ctr">
            <a:spAutoFit/>
          </a:bodyPr>
          <a:lstStyle/>
          <a:p>
            <a:pPr algn="l">
              <a:spcBef>
                <a:spcPts val="0"/>
              </a:spcBef>
              <a:spcAft>
                <a:spcPts val="0"/>
              </a:spcAft>
            </a:pPr>
            <a:r>
              <a:rPr sz="1300" b="1" i="0">
                <a:solidFill>
                  <a:srgbClr val="241C44"/>
                </a:solidFill>
                <a:latin typeface="Trebuchet MS"/>
              </a:rPr>
              <a:t>Notizen · Datei-Browser</a:t>
            </a:r>
          </a:p>
        </p:txBody>
      </p:sp>
      <p:sp>
        <p:nvSpPr>
          <p:cNvPr id="17" name="TextBox 16"/>
          <p:cNvSpPr txBox="1"/>
          <p:nvPr/>
        </p:nvSpPr>
        <p:spPr>
          <a:xfrm>
            <a:off x="7178040" y="2423160"/>
            <a:ext cx="3840480" cy="236988"/>
          </a:xfrm>
          <a:prstGeom prst="rect">
            <a:avLst/>
          </a:prstGeom>
          <a:noFill/>
        </p:spPr>
        <p:txBody>
          <a:bodyPr wrap="square" lIns="45720" tIns="18288" rIns="45720" bIns="18288" anchor="t">
            <a:spAutoFit/>
          </a:bodyPr>
          <a:lstStyle/>
          <a:p>
            <a:pPr algn="l">
              <a:spcBef>
                <a:spcPts val="0"/>
              </a:spcBef>
              <a:spcAft>
                <a:spcPts val="0"/>
              </a:spcAft>
            </a:pPr>
            <a:r>
              <a:rPr lang="de-AT" sz="1300" b="1" i="0" dirty="0">
                <a:solidFill>
                  <a:srgbClr val="44B9C9"/>
                </a:solidFill>
                <a:latin typeface="Trebuchet MS"/>
              </a:rPr>
              <a:t>Vorschau:</a:t>
            </a:r>
            <a:endParaRPr sz="1300" b="1" i="0" dirty="0">
              <a:solidFill>
                <a:srgbClr val="44B9C9"/>
              </a:solidFill>
              <a:latin typeface="Trebuchet MS"/>
            </a:endParaRPr>
          </a:p>
        </p:txBody>
      </p:sp>
      <p:sp>
        <p:nvSpPr>
          <p:cNvPr id="18" name="Rounded Rectangle 17"/>
          <p:cNvSpPr/>
          <p:nvPr/>
        </p:nvSpPr>
        <p:spPr>
          <a:xfrm>
            <a:off x="7178040" y="2834640"/>
            <a:ext cx="3794760" cy="457200"/>
          </a:xfrm>
          <a:prstGeom prst="roundRect">
            <a:avLst>
              <a:gd name="adj" fmla="val 1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315200" y="2944368"/>
            <a:ext cx="237744" cy="237744"/>
          </a:xfrm>
          <a:prstGeom prst="ellipse">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26679" y="2852928"/>
            <a:ext cx="3200400" cy="420624"/>
          </a:xfrm>
          <a:prstGeom prst="rect">
            <a:avLst/>
          </a:prstGeom>
          <a:noFill/>
        </p:spPr>
        <p:txBody>
          <a:bodyPr wrap="square" lIns="45720" tIns="18288" rIns="45720" bIns="18288" anchor="ctr">
            <a:spAutoFit/>
          </a:bodyPr>
          <a:lstStyle/>
          <a:p>
            <a:pPr algn="l">
              <a:spcBef>
                <a:spcPts val="0"/>
              </a:spcBef>
              <a:spcAft>
                <a:spcPts val="0"/>
              </a:spcAft>
            </a:pPr>
            <a:r>
              <a:rPr sz="1200" b="0" i="0">
                <a:solidFill>
                  <a:srgbClr val="F1EDE6"/>
                </a:solidFill>
                <a:latin typeface="Trebuchet MS"/>
              </a:rPr>
              <a:t>Konzept.note</a:t>
            </a:r>
          </a:p>
        </p:txBody>
      </p:sp>
      <p:sp>
        <p:nvSpPr>
          <p:cNvPr id="21" name="Rounded Rectangle 20"/>
          <p:cNvSpPr/>
          <p:nvPr/>
        </p:nvSpPr>
        <p:spPr>
          <a:xfrm>
            <a:off x="7178040" y="3401568"/>
            <a:ext cx="3794760" cy="457200"/>
          </a:xfrm>
          <a:prstGeom prst="roundRect">
            <a:avLst>
              <a:gd name="adj" fmla="val 1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315200" y="3511296"/>
            <a:ext cx="237744" cy="237744"/>
          </a:xfrm>
          <a:prstGeom prst="ellipse">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26679" y="3419856"/>
            <a:ext cx="3200400" cy="420624"/>
          </a:xfrm>
          <a:prstGeom prst="rect">
            <a:avLst/>
          </a:prstGeom>
          <a:noFill/>
        </p:spPr>
        <p:txBody>
          <a:bodyPr wrap="square" lIns="45720" tIns="18288" rIns="45720" bIns="18288" anchor="ctr">
            <a:spAutoFit/>
          </a:bodyPr>
          <a:lstStyle/>
          <a:p>
            <a:pPr algn="l">
              <a:spcBef>
                <a:spcPts val="0"/>
              </a:spcBef>
              <a:spcAft>
                <a:spcPts val="0"/>
              </a:spcAft>
            </a:pPr>
            <a:r>
              <a:rPr sz="1200" b="0" i="0">
                <a:solidFill>
                  <a:srgbClr val="F1EDE6"/>
                </a:solidFill>
                <a:latin typeface="Trebuchet MS"/>
              </a:rPr>
              <a:t>Meeting 12.06</a:t>
            </a:r>
          </a:p>
        </p:txBody>
      </p:sp>
      <p:sp>
        <p:nvSpPr>
          <p:cNvPr id="24" name="TextBox 23"/>
          <p:cNvSpPr txBox="1"/>
          <p:nvPr/>
        </p:nvSpPr>
        <p:spPr>
          <a:xfrm>
            <a:off x="7178040" y="3968496"/>
            <a:ext cx="3840480" cy="365760"/>
          </a:xfrm>
          <a:prstGeom prst="rect">
            <a:avLst/>
          </a:prstGeom>
          <a:noFill/>
        </p:spPr>
        <p:txBody>
          <a:bodyPr wrap="square" lIns="45720" tIns="18288" rIns="45720" bIns="18288" anchor="t">
            <a:spAutoFit/>
          </a:bodyPr>
          <a:lstStyle/>
          <a:p>
            <a:pPr algn="l">
              <a:spcBef>
                <a:spcPts val="0"/>
              </a:spcBef>
              <a:spcAft>
                <a:spcPts val="0"/>
              </a:spcAft>
            </a:pPr>
            <a:r>
              <a:rPr sz="1300" b="1" i="0">
                <a:solidFill>
                  <a:srgbClr val="44B9C9"/>
                </a:solidFill>
                <a:latin typeface="Trebuchet MS"/>
              </a:rPr>
              <a:t>Ideen</a:t>
            </a:r>
          </a:p>
        </p:txBody>
      </p:sp>
      <p:sp>
        <p:nvSpPr>
          <p:cNvPr id="25" name="Rounded Rectangle 24"/>
          <p:cNvSpPr/>
          <p:nvPr/>
        </p:nvSpPr>
        <p:spPr>
          <a:xfrm>
            <a:off x="7178040" y="4379976"/>
            <a:ext cx="3794760" cy="457200"/>
          </a:xfrm>
          <a:prstGeom prst="roundRect">
            <a:avLst>
              <a:gd name="adj" fmla="val 1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315200" y="4489704"/>
            <a:ext cx="237744" cy="237744"/>
          </a:xfrm>
          <a:prstGeom prst="ellipse">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26679" y="4398264"/>
            <a:ext cx="3200400" cy="420624"/>
          </a:xfrm>
          <a:prstGeom prst="rect">
            <a:avLst/>
          </a:prstGeom>
          <a:noFill/>
        </p:spPr>
        <p:txBody>
          <a:bodyPr wrap="square" lIns="45720" tIns="18288" rIns="45720" bIns="18288" anchor="ctr">
            <a:spAutoFit/>
          </a:bodyPr>
          <a:lstStyle/>
          <a:p>
            <a:pPr algn="l">
              <a:spcBef>
                <a:spcPts val="0"/>
              </a:spcBef>
              <a:spcAft>
                <a:spcPts val="0"/>
              </a:spcAft>
            </a:pPr>
            <a:r>
              <a:rPr sz="1200" b="0" i="0">
                <a:solidFill>
                  <a:srgbClr val="F1EDE6"/>
                </a:solidFill>
                <a:latin typeface="Trebuchet MS"/>
              </a:rPr>
              <a:t>Recherche-Links</a:t>
            </a:r>
          </a:p>
        </p:txBody>
      </p:sp>
      <p:sp>
        <p:nvSpPr>
          <p:cNvPr id="28" name="Rounded Rectangle 27"/>
          <p:cNvSpPr/>
          <p:nvPr/>
        </p:nvSpPr>
        <p:spPr>
          <a:xfrm>
            <a:off x="7178040" y="4946904"/>
            <a:ext cx="3794760" cy="457200"/>
          </a:xfrm>
          <a:prstGeom prst="roundRect">
            <a:avLst>
              <a:gd name="adj" fmla="val 1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315200" y="5056632"/>
            <a:ext cx="237744" cy="237744"/>
          </a:xfrm>
          <a:prstGeom prst="ellipse">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26679" y="4965192"/>
            <a:ext cx="3200400" cy="420624"/>
          </a:xfrm>
          <a:prstGeom prst="rect">
            <a:avLst/>
          </a:prstGeom>
          <a:noFill/>
        </p:spPr>
        <p:txBody>
          <a:bodyPr wrap="square" lIns="45720" tIns="18288" rIns="45720" bIns="18288" anchor="ctr">
            <a:spAutoFit/>
          </a:bodyPr>
          <a:lstStyle/>
          <a:p>
            <a:pPr algn="l">
              <a:spcBef>
                <a:spcPts val="0"/>
              </a:spcBef>
              <a:spcAft>
                <a:spcPts val="0"/>
              </a:spcAft>
            </a:pPr>
            <a:r>
              <a:rPr sz="1200" b="0" i="0">
                <a:solidFill>
                  <a:srgbClr val="F1EDE6"/>
                </a:solidFill>
                <a:latin typeface="Trebuchet MS"/>
              </a:rPr>
              <a:t>Notiz: Architektur</a:t>
            </a:r>
          </a:p>
        </p:txBody>
      </p:sp>
      <p:pic>
        <p:nvPicPr>
          <p:cNvPr id="32" name="Grafik 31">
            <a:extLst>
              <a:ext uri="{FF2B5EF4-FFF2-40B4-BE49-F238E27FC236}">
                <a16:creationId xmlns:a16="http://schemas.microsoft.com/office/drawing/2014/main" id="{8B4D0FF3-54F4-E987-8AB1-E99050C5D532}"/>
              </a:ext>
            </a:extLst>
          </p:cNvPr>
          <p:cNvPicPr>
            <a:picLocks noChangeAspect="1"/>
          </p:cNvPicPr>
          <p:nvPr/>
        </p:nvPicPr>
        <p:blipFill>
          <a:blip r:embed="rId2"/>
          <a:stretch>
            <a:fillRect/>
          </a:stretch>
        </p:blipFill>
        <p:spPr>
          <a:xfrm>
            <a:off x="6975108" y="2816352"/>
            <a:ext cx="4200624" cy="2569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DIE KERN-FEATURES</a:t>
            </a:r>
          </a:p>
          <a:p>
            <a:pPr algn="l">
              <a:spcBef>
                <a:spcPts val="0"/>
              </a:spcBef>
              <a:spcAft>
                <a:spcPts val="0"/>
              </a:spcAft>
            </a:pPr>
            <a:r>
              <a:rPr sz="3200" b="1" i="0">
                <a:solidFill>
                  <a:srgbClr val="F1EDE6"/>
                </a:solidFill>
                <a:latin typeface="Trebuchet MS"/>
              </a:rPr>
              <a:t>Feature: Todos</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10</a:t>
            </a:r>
          </a:p>
        </p:txBody>
      </p:sp>
      <p:sp>
        <p:nvSpPr>
          <p:cNvPr id="9" name="Rounded Rectangle 8"/>
          <p:cNvSpPr/>
          <p:nvPr/>
        </p:nvSpPr>
        <p:spPr>
          <a:xfrm>
            <a:off x="640080" y="566928"/>
            <a:ext cx="82296" cy="566928"/>
          </a:xfrm>
          <a:prstGeom prst="roundRect">
            <a:avLst>
              <a:gd name="adj" fmla="val 50000"/>
            </a:avLst>
          </a:prstGeom>
          <a:solidFill>
            <a:srgbClr val="856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DIE KERN-FEATURES</a:t>
            </a:r>
          </a:p>
          <a:p>
            <a:pPr algn="l">
              <a:spcBef>
                <a:spcPts val="0"/>
              </a:spcBef>
              <a:spcAft>
                <a:spcPts val="0"/>
              </a:spcAft>
            </a:pPr>
            <a:r>
              <a:rPr sz="3200" b="1" i="0">
                <a:solidFill>
                  <a:srgbClr val="F1EDE6"/>
                </a:solidFill>
                <a:latin typeface="Trebuchet MS"/>
              </a:rPr>
              <a:t>Feature: Todos</a:t>
            </a:r>
          </a:p>
        </p:txBody>
      </p:sp>
      <p:sp>
        <p:nvSpPr>
          <p:cNvPr id="11" name="Rounded Rectangle 10"/>
          <p:cNvSpPr/>
          <p:nvPr/>
        </p:nvSpPr>
        <p:spPr>
          <a:xfrm>
            <a:off x="868680" y="1463040"/>
            <a:ext cx="1719072" cy="420624"/>
          </a:xfrm>
          <a:prstGeom prst="roundRect">
            <a:avLst>
              <a:gd name="adj" fmla="val 50000"/>
            </a:avLst>
          </a:prstGeom>
          <a:solidFill>
            <a:srgbClr val="8560DD"/>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300" b="1">
                <a:solidFill>
                  <a:srgbClr val="241C44"/>
                </a:solidFill>
                <a:latin typeface="Trebuchet MS"/>
              </a:rPr>
              <a:t>Aufgaben abhaken</a:t>
            </a:r>
          </a:p>
        </p:txBody>
      </p:sp>
      <p:sp>
        <p:nvSpPr>
          <p:cNvPr id="12" name="TextBox 11"/>
          <p:cNvSpPr txBox="1"/>
          <p:nvPr/>
        </p:nvSpPr>
        <p:spPr>
          <a:xfrm>
            <a:off x="868680" y="2057400"/>
            <a:ext cx="5486400" cy="822960"/>
          </a:xfrm>
          <a:prstGeom prst="rect">
            <a:avLst/>
          </a:prstGeom>
          <a:noFill/>
        </p:spPr>
        <p:txBody>
          <a:bodyPr wrap="square" lIns="45720" tIns="18288" rIns="45720" bIns="18288" anchor="t">
            <a:spAutoFit/>
          </a:bodyPr>
          <a:lstStyle/>
          <a:p>
            <a:pPr algn="l">
              <a:spcBef>
                <a:spcPts val="0"/>
              </a:spcBef>
              <a:spcAft>
                <a:spcPts val="0"/>
              </a:spcAft>
            </a:pPr>
            <a:r>
              <a:rPr sz="1550" b="0" i="0">
                <a:solidFill>
                  <a:srgbClr val="F1EDE6"/>
                </a:solidFill>
                <a:latin typeface="Trebuchet MS"/>
              </a:rPr>
              <a:t>Todo-Karten mit abhakbaren Eintraegen - der Fortschritt einer Karte ergibt sich automatisch aus ihren Eintraegen.</a:t>
            </a:r>
          </a:p>
        </p:txBody>
      </p:sp>
      <p:sp>
        <p:nvSpPr>
          <p:cNvPr id="13" name="TextBox 12"/>
          <p:cNvSpPr txBox="1"/>
          <p:nvPr/>
        </p:nvSpPr>
        <p:spPr>
          <a:xfrm>
            <a:off x="868680" y="2971800"/>
            <a:ext cx="5486400" cy="2926080"/>
          </a:xfrm>
          <a:prstGeom prst="rect">
            <a:avLst/>
          </a:prstGeom>
          <a:noFill/>
        </p:spPr>
        <p:txBody>
          <a:bodyPr wrap="square" lIns="45720" tIns="18288" rIns="45720" bIns="18288" anchor="t">
            <a:spAutoFit/>
          </a:bodyPr>
          <a:lstStyle/>
          <a:p>
            <a:pPr marL="228600" indent="-228600" algn="l">
              <a:spcBef>
                <a:spcPts val="0"/>
              </a:spcBef>
              <a:spcAft>
                <a:spcPts val="1100"/>
              </a:spcAft>
              <a:buFont typeface="Trebuchet MS"/>
              <a:buChar char="•"/>
            </a:pPr>
            <a:r>
              <a:rPr sz="1400" b="0" i="0">
                <a:solidFill>
                  <a:srgbClr val="F1EDE6"/>
                </a:solidFill>
                <a:latin typeface="Trebuchet MS"/>
              </a:rPr>
              <a:t>Todo-Board mit mehreren Todo-Karten (Listen)</a:t>
            </a:r>
          </a:p>
          <a:p>
            <a:pPr marL="228600" indent="-228600" algn="l">
              <a:spcBef>
                <a:spcPts val="0"/>
              </a:spcBef>
              <a:spcAft>
                <a:spcPts val="1100"/>
              </a:spcAft>
              <a:buFont typeface="Trebuchet MS"/>
              <a:buChar char="•"/>
            </a:pPr>
            <a:r>
              <a:rPr sz="1400" b="0" i="0">
                <a:solidFill>
                  <a:srgbClr val="F1EDE6"/>
                </a:solidFill>
                <a:latin typeface="Trebuchet MS"/>
              </a:rPr>
              <a:t>Eintraege abhaken - Status pending / done</a:t>
            </a:r>
          </a:p>
          <a:p>
            <a:pPr marL="228600" indent="-228600" algn="l">
              <a:spcBef>
                <a:spcPts val="0"/>
              </a:spcBef>
              <a:spcAft>
                <a:spcPts val="1100"/>
              </a:spcAft>
              <a:buFont typeface="Trebuchet MS"/>
              <a:buChar char="•"/>
            </a:pPr>
            <a:r>
              <a:rPr sz="1400" b="0" i="0">
                <a:solidFill>
                  <a:srgbClr val="F1EDE6"/>
                </a:solidFill>
                <a:latin typeface="Trebuchet MS"/>
              </a:rPr>
              <a:t>Karte wird automatisch fertig, wenn alle Eintraege erledigt sind</a:t>
            </a:r>
          </a:p>
          <a:p>
            <a:pPr marL="228600" indent="-228600" algn="l">
              <a:spcBef>
                <a:spcPts val="0"/>
              </a:spcBef>
              <a:spcAft>
                <a:spcPts val="1100"/>
              </a:spcAft>
              <a:buFont typeface="Trebuchet MS"/>
              <a:buChar char="•"/>
            </a:pPr>
            <a:r>
              <a:rPr sz="1400" b="0" i="0">
                <a:solidFill>
                  <a:srgbClr val="F1EDE6"/>
                </a:solidFill>
                <a:latin typeface="Trebuchet MS"/>
              </a:rPr>
              <a:t>Sammlungen gruppieren zusammengehörige Karten</a:t>
            </a:r>
          </a:p>
        </p:txBody>
      </p:sp>
      <p:sp>
        <p:nvSpPr>
          <p:cNvPr id="14" name="Rounded Rectangle 13"/>
          <p:cNvSpPr/>
          <p:nvPr/>
        </p:nvSpPr>
        <p:spPr>
          <a:xfrm>
            <a:off x="6858000" y="1600200"/>
            <a:ext cx="4434840" cy="4297680"/>
          </a:xfrm>
          <a:prstGeom prst="roundRect">
            <a:avLst>
              <a:gd name="adj" fmla="val 5000"/>
            </a:avLst>
          </a:prstGeom>
          <a:solidFill>
            <a:srgbClr val="2B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858000" y="1600200"/>
            <a:ext cx="4434840" cy="548640"/>
          </a:xfrm>
          <a:prstGeom prst="roundRect">
            <a:avLst>
              <a:gd name="adj" fmla="val 5000"/>
            </a:avLst>
          </a:prstGeom>
          <a:solidFill>
            <a:srgbClr val="856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0" y="1645920"/>
            <a:ext cx="3931920" cy="457200"/>
          </a:xfrm>
          <a:prstGeom prst="rect">
            <a:avLst/>
          </a:prstGeom>
          <a:noFill/>
        </p:spPr>
        <p:txBody>
          <a:bodyPr wrap="square" lIns="45720" tIns="18288" rIns="45720" bIns="18288" anchor="ctr">
            <a:spAutoFit/>
          </a:bodyPr>
          <a:lstStyle/>
          <a:p>
            <a:pPr algn="l">
              <a:spcBef>
                <a:spcPts val="0"/>
              </a:spcBef>
              <a:spcAft>
                <a:spcPts val="0"/>
              </a:spcAft>
            </a:pPr>
            <a:r>
              <a:rPr sz="1300" b="1" i="0">
                <a:solidFill>
                  <a:srgbClr val="241C44"/>
                </a:solidFill>
                <a:latin typeface="Trebuchet MS"/>
              </a:rPr>
              <a:t>Todos · Board</a:t>
            </a:r>
          </a:p>
        </p:txBody>
      </p:sp>
      <p:sp>
        <p:nvSpPr>
          <p:cNvPr id="17" name="TextBox 16"/>
          <p:cNvSpPr txBox="1"/>
          <p:nvPr/>
        </p:nvSpPr>
        <p:spPr>
          <a:xfrm>
            <a:off x="7178040" y="2423160"/>
            <a:ext cx="3840480" cy="236988"/>
          </a:xfrm>
          <a:prstGeom prst="rect">
            <a:avLst/>
          </a:prstGeom>
          <a:noFill/>
        </p:spPr>
        <p:txBody>
          <a:bodyPr wrap="square" lIns="45720" tIns="18288" rIns="45720" bIns="18288" anchor="t">
            <a:spAutoFit/>
          </a:bodyPr>
          <a:lstStyle/>
          <a:p>
            <a:pPr algn="l">
              <a:spcBef>
                <a:spcPts val="0"/>
              </a:spcBef>
              <a:spcAft>
                <a:spcPts val="0"/>
              </a:spcAft>
            </a:pPr>
            <a:r>
              <a:rPr lang="de-AT" sz="1300" b="1" i="0" dirty="0">
                <a:solidFill>
                  <a:srgbClr val="8560DD"/>
                </a:solidFill>
                <a:latin typeface="Trebuchet MS"/>
              </a:rPr>
              <a:t>Vorschau:</a:t>
            </a:r>
            <a:endParaRPr sz="1300" b="1" i="0" dirty="0">
              <a:solidFill>
                <a:srgbClr val="8560DD"/>
              </a:solidFill>
              <a:latin typeface="Trebuchet MS"/>
            </a:endParaRPr>
          </a:p>
        </p:txBody>
      </p:sp>
      <p:pic>
        <p:nvPicPr>
          <p:cNvPr id="31" name="Grafik 30">
            <a:extLst>
              <a:ext uri="{FF2B5EF4-FFF2-40B4-BE49-F238E27FC236}">
                <a16:creationId xmlns:a16="http://schemas.microsoft.com/office/drawing/2014/main" id="{4D84F7D0-941D-4574-3B5F-C7D3EBBAC5B2}"/>
              </a:ext>
            </a:extLst>
          </p:cNvPr>
          <p:cNvPicPr>
            <a:picLocks noChangeAspect="1"/>
          </p:cNvPicPr>
          <p:nvPr/>
        </p:nvPicPr>
        <p:blipFill>
          <a:blip r:embed="rId2"/>
          <a:stretch>
            <a:fillRect/>
          </a:stretch>
        </p:blipFill>
        <p:spPr>
          <a:xfrm>
            <a:off x="7049191" y="2880360"/>
            <a:ext cx="4052458" cy="24669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DIE KERN-FEATURES</a:t>
            </a:r>
          </a:p>
          <a:p>
            <a:pPr algn="l">
              <a:spcBef>
                <a:spcPts val="0"/>
              </a:spcBef>
              <a:spcAft>
                <a:spcPts val="0"/>
              </a:spcAft>
            </a:pPr>
            <a:r>
              <a:rPr sz="3200" b="1" i="0">
                <a:solidFill>
                  <a:srgbClr val="F1EDE6"/>
                </a:solidFill>
                <a:latin typeface="Trebuchet MS"/>
              </a:rPr>
              <a:t>Feature: Events</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11</a:t>
            </a:r>
          </a:p>
        </p:txBody>
      </p:sp>
      <p:sp>
        <p:nvSpPr>
          <p:cNvPr id="9" name="Rounded Rectangle 8"/>
          <p:cNvSpPr/>
          <p:nvPr/>
        </p:nvSpPr>
        <p:spPr>
          <a:xfrm>
            <a:off x="640080" y="566928"/>
            <a:ext cx="82296" cy="566928"/>
          </a:xfrm>
          <a:prstGeom prst="roundRect">
            <a:avLst>
              <a:gd name="adj" fmla="val 50000"/>
            </a:avLst>
          </a:prstGeom>
          <a:solidFill>
            <a:srgbClr val="76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DIE KERN-FEATURES</a:t>
            </a:r>
          </a:p>
          <a:p>
            <a:pPr algn="l">
              <a:spcBef>
                <a:spcPts val="0"/>
              </a:spcBef>
              <a:spcAft>
                <a:spcPts val="0"/>
              </a:spcAft>
            </a:pPr>
            <a:r>
              <a:rPr sz="3200" b="1" i="0">
                <a:solidFill>
                  <a:srgbClr val="F1EDE6"/>
                </a:solidFill>
                <a:latin typeface="Trebuchet MS"/>
              </a:rPr>
              <a:t>Feature: Events</a:t>
            </a:r>
          </a:p>
        </p:txBody>
      </p:sp>
      <p:sp>
        <p:nvSpPr>
          <p:cNvPr id="11" name="Rounded Rectangle 10"/>
          <p:cNvSpPr/>
          <p:nvPr/>
        </p:nvSpPr>
        <p:spPr>
          <a:xfrm>
            <a:off x="868680" y="1463040"/>
            <a:ext cx="2007107" cy="420624"/>
          </a:xfrm>
          <a:prstGeom prst="roundRect">
            <a:avLst>
              <a:gd name="adj" fmla="val 50000"/>
            </a:avLst>
          </a:prstGeom>
          <a:solidFill>
            <a:srgbClr val="76E3F1"/>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300" b="1">
                <a:solidFill>
                  <a:srgbClr val="241C44"/>
                </a:solidFill>
                <a:latin typeface="Trebuchet MS"/>
              </a:rPr>
              <a:t>Termine &amp; Zeitpläne</a:t>
            </a:r>
          </a:p>
        </p:txBody>
      </p:sp>
      <p:sp>
        <p:nvSpPr>
          <p:cNvPr id="12" name="TextBox 11"/>
          <p:cNvSpPr txBox="1"/>
          <p:nvPr/>
        </p:nvSpPr>
        <p:spPr>
          <a:xfrm>
            <a:off x="868680" y="2057400"/>
            <a:ext cx="5486400" cy="822960"/>
          </a:xfrm>
          <a:prstGeom prst="rect">
            <a:avLst/>
          </a:prstGeom>
          <a:noFill/>
        </p:spPr>
        <p:txBody>
          <a:bodyPr wrap="square" lIns="45720" tIns="18288" rIns="45720" bIns="18288" anchor="t">
            <a:spAutoFit/>
          </a:bodyPr>
          <a:lstStyle/>
          <a:p>
            <a:pPr algn="l">
              <a:spcBef>
                <a:spcPts val="0"/>
              </a:spcBef>
              <a:spcAft>
                <a:spcPts val="0"/>
              </a:spcAft>
            </a:pPr>
            <a:r>
              <a:rPr sz="1550" b="0" i="0">
                <a:solidFill>
                  <a:srgbClr val="F1EDE6"/>
                </a:solidFill>
                <a:latin typeface="Trebuchet MS"/>
              </a:rPr>
              <a:t>Ein Kalender, in dem Termine angelegt und im Team geplant werden - mit Tagesansicht und Detail-Modal.</a:t>
            </a:r>
          </a:p>
        </p:txBody>
      </p:sp>
      <p:sp>
        <p:nvSpPr>
          <p:cNvPr id="13" name="TextBox 12"/>
          <p:cNvSpPr txBox="1"/>
          <p:nvPr/>
        </p:nvSpPr>
        <p:spPr>
          <a:xfrm>
            <a:off x="868680" y="2971800"/>
            <a:ext cx="5486400" cy="2926080"/>
          </a:xfrm>
          <a:prstGeom prst="rect">
            <a:avLst/>
          </a:prstGeom>
          <a:noFill/>
        </p:spPr>
        <p:txBody>
          <a:bodyPr wrap="square" lIns="45720" tIns="18288" rIns="45720" bIns="18288" anchor="t">
            <a:spAutoFit/>
          </a:bodyPr>
          <a:lstStyle/>
          <a:p>
            <a:pPr marL="228600" indent="-228600" algn="l">
              <a:spcBef>
                <a:spcPts val="0"/>
              </a:spcBef>
              <a:spcAft>
                <a:spcPts val="1100"/>
              </a:spcAft>
              <a:buFont typeface="Trebuchet MS"/>
              <a:buChar char="•"/>
            </a:pPr>
            <a:r>
              <a:rPr sz="1400" b="0" i="0">
                <a:solidFill>
                  <a:srgbClr val="F1EDE6"/>
                </a:solidFill>
                <a:latin typeface="Trebuchet MS"/>
              </a:rPr>
              <a:t>Kalender mit Monats- &amp; Tagesansicht</a:t>
            </a:r>
          </a:p>
          <a:p>
            <a:pPr marL="228600" indent="-228600" algn="l">
              <a:spcBef>
                <a:spcPts val="0"/>
              </a:spcBef>
              <a:spcAft>
                <a:spcPts val="1100"/>
              </a:spcAft>
              <a:buFont typeface="Trebuchet MS"/>
              <a:buChar char="•"/>
            </a:pPr>
            <a:r>
              <a:rPr sz="1400" b="0" i="0">
                <a:solidFill>
                  <a:srgbClr val="F1EDE6"/>
                </a:solidFill>
                <a:latin typeface="Trebuchet MS"/>
              </a:rPr>
              <a:t>Events anlegen, bearbeiten und einsehen</a:t>
            </a:r>
          </a:p>
          <a:p>
            <a:pPr marL="228600" indent="-228600" algn="l">
              <a:spcBef>
                <a:spcPts val="0"/>
              </a:spcBef>
              <a:spcAft>
                <a:spcPts val="1100"/>
              </a:spcAft>
              <a:buFont typeface="Trebuchet MS"/>
              <a:buChar char="•"/>
            </a:pPr>
            <a:r>
              <a:rPr sz="1400" b="0" i="0">
                <a:solidFill>
                  <a:srgbClr val="F1EDE6"/>
                </a:solidFill>
                <a:latin typeface="Trebuchet MS"/>
              </a:rPr>
              <a:t>Termine erscheinen direkt im jeweiligen Tag</a:t>
            </a:r>
          </a:p>
          <a:p>
            <a:pPr marL="228600" indent="-228600" algn="l">
              <a:spcBef>
                <a:spcPts val="0"/>
              </a:spcBef>
              <a:spcAft>
                <a:spcPts val="1100"/>
              </a:spcAft>
              <a:buFont typeface="Trebuchet MS"/>
              <a:buChar char="•"/>
            </a:pPr>
            <a:r>
              <a:rPr sz="1400" b="0" i="0">
                <a:solidFill>
                  <a:srgbClr val="F1EDE6"/>
                </a:solidFill>
                <a:latin typeface="Trebuchet MS"/>
              </a:rPr>
              <a:t>Gemeinsame Planung im Workspace, live synchronisiert</a:t>
            </a:r>
          </a:p>
        </p:txBody>
      </p:sp>
      <p:sp>
        <p:nvSpPr>
          <p:cNvPr id="14" name="Rounded Rectangle 13"/>
          <p:cNvSpPr/>
          <p:nvPr/>
        </p:nvSpPr>
        <p:spPr>
          <a:xfrm>
            <a:off x="6858000" y="1600200"/>
            <a:ext cx="4434840" cy="4297680"/>
          </a:xfrm>
          <a:prstGeom prst="roundRect">
            <a:avLst>
              <a:gd name="adj" fmla="val 5000"/>
            </a:avLst>
          </a:prstGeom>
          <a:solidFill>
            <a:srgbClr val="2B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858000" y="1600200"/>
            <a:ext cx="4434840" cy="548640"/>
          </a:xfrm>
          <a:prstGeom prst="roundRect">
            <a:avLst>
              <a:gd name="adj" fmla="val 5000"/>
            </a:avLst>
          </a:prstGeom>
          <a:solidFill>
            <a:srgbClr val="76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0" y="1645920"/>
            <a:ext cx="3931920" cy="457200"/>
          </a:xfrm>
          <a:prstGeom prst="rect">
            <a:avLst/>
          </a:prstGeom>
          <a:noFill/>
        </p:spPr>
        <p:txBody>
          <a:bodyPr wrap="square" lIns="45720" tIns="18288" rIns="45720" bIns="18288" anchor="ctr">
            <a:spAutoFit/>
          </a:bodyPr>
          <a:lstStyle/>
          <a:p>
            <a:pPr algn="l">
              <a:spcBef>
                <a:spcPts val="0"/>
              </a:spcBef>
              <a:spcAft>
                <a:spcPts val="0"/>
              </a:spcAft>
            </a:pPr>
            <a:r>
              <a:rPr sz="1300" b="1" i="0">
                <a:solidFill>
                  <a:srgbClr val="241C44"/>
                </a:solidFill>
                <a:latin typeface="Trebuchet MS"/>
              </a:rPr>
              <a:t>Events · Kalender</a:t>
            </a:r>
          </a:p>
        </p:txBody>
      </p:sp>
      <p:sp>
        <p:nvSpPr>
          <p:cNvPr id="17" name="TextBox 16"/>
          <p:cNvSpPr txBox="1"/>
          <p:nvPr/>
        </p:nvSpPr>
        <p:spPr>
          <a:xfrm>
            <a:off x="7178040" y="2423160"/>
            <a:ext cx="3840480" cy="236988"/>
          </a:xfrm>
          <a:prstGeom prst="rect">
            <a:avLst/>
          </a:prstGeom>
          <a:noFill/>
        </p:spPr>
        <p:txBody>
          <a:bodyPr wrap="square" lIns="45720" tIns="18288" rIns="45720" bIns="18288" anchor="t">
            <a:spAutoFit/>
          </a:bodyPr>
          <a:lstStyle/>
          <a:p>
            <a:pPr algn="l">
              <a:spcBef>
                <a:spcPts val="0"/>
              </a:spcBef>
              <a:spcAft>
                <a:spcPts val="0"/>
              </a:spcAft>
            </a:pPr>
            <a:r>
              <a:rPr lang="de-AT" sz="1300" b="1" dirty="0">
                <a:solidFill>
                  <a:srgbClr val="44B9C9"/>
                </a:solidFill>
                <a:latin typeface="Trebuchet MS"/>
              </a:rPr>
              <a:t>Vorschau:</a:t>
            </a:r>
            <a:endParaRPr sz="1300" b="1" i="0" dirty="0">
              <a:solidFill>
                <a:srgbClr val="44B9C9"/>
              </a:solidFill>
              <a:latin typeface="Trebuchet MS"/>
            </a:endParaRPr>
          </a:p>
        </p:txBody>
      </p:sp>
      <p:pic>
        <p:nvPicPr>
          <p:cNvPr id="31" name="Grafik 30">
            <a:extLst>
              <a:ext uri="{FF2B5EF4-FFF2-40B4-BE49-F238E27FC236}">
                <a16:creationId xmlns:a16="http://schemas.microsoft.com/office/drawing/2014/main" id="{322E81FB-D27B-F7E1-46A9-CBAF77F6C44D}"/>
              </a:ext>
            </a:extLst>
          </p:cNvPr>
          <p:cNvPicPr>
            <a:picLocks noChangeAspect="1"/>
          </p:cNvPicPr>
          <p:nvPr/>
        </p:nvPicPr>
        <p:blipFill>
          <a:blip r:embed="rId2"/>
          <a:stretch>
            <a:fillRect/>
          </a:stretch>
        </p:blipFill>
        <p:spPr>
          <a:xfrm>
            <a:off x="7088464" y="2880360"/>
            <a:ext cx="3973912" cy="25130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ECHTZEIT &amp; USERSYSTEME</a:t>
            </a:r>
          </a:p>
          <a:p>
            <a:pPr algn="l">
              <a:spcBef>
                <a:spcPts val="0"/>
              </a:spcBef>
              <a:spcAft>
                <a:spcPts val="0"/>
              </a:spcAft>
            </a:pPr>
            <a:r>
              <a:rPr sz="3200" b="1" i="0">
                <a:solidFill>
                  <a:srgbClr val="F1EDE6"/>
                </a:solidFill>
                <a:latin typeface="Trebuchet MS"/>
              </a:rPr>
              <a:t>Live-Zusammenarbeit</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12</a:t>
            </a:r>
          </a:p>
        </p:txBody>
      </p:sp>
      <p:sp>
        <p:nvSpPr>
          <p:cNvPr id="9" name="Rounded Rectangle 8"/>
          <p:cNvSpPr/>
          <p:nvPr/>
        </p:nvSpPr>
        <p:spPr>
          <a:xfrm>
            <a:off x="640080" y="566928"/>
            <a:ext cx="82296" cy="566928"/>
          </a:xfrm>
          <a:prstGeom prst="roundRect">
            <a:avLst>
              <a:gd name="adj" fmla="val 50000"/>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ECHTZEIT &amp; USERSYSTEME</a:t>
            </a:r>
          </a:p>
          <a:p>
            <a:pPr algn="l">
              <a:spcBef>
                <a:spcPts val="0"/>
              </a:spcBef>
              <a:spcAft>
                <a:spcPts val="0"/>
              </a:spcAft>
            </a:pPr>
            <a:r>
              <a:rPr sz="3200" b="1" i="0">
                <a:solidFill>
                  <a:srgbClr val="F1EDE6"/>
                </a:solidFill>
                <a:latin typeface="Trebuchet MS"/>
              </a:rPr>
              <a:t>Live-Zusammenarbeit</a:t>
            </a:r>
          </a:p>
        </p:txBody>
      </p:sp>
      <p:sp>
        <p:nvSpPr>
          <p:cNvPr id="11" name="TextBox 10"/>
          <p:cNvSpPr txBox="1"/>
          <p:nvPr/>
        </p:nvSpPr>
        <p:spPr>
          <a:xfrm>
            <a:off x="868680" y="1417320"/>
            <a:ext cx="10424160" cy="822960"/>
          </a:xfrm>
          <a:prstGeom prst="rect">
            <a:avLst/>
          </a:prstGeom>
          <a:noFill/>
        </p:spPr>
        <p:txBody>
          <a:bodyPr wrap="square" lIns="45720" tIns="18288" rIns="45720" bIns="18288" anchor="t">
            <a:spAutoFit/>
          </a:bodyPr>
          <a:lstStyle/>
          <a:p>
            <a:pPr algn="l">
              <a:spcBef>
                <a:spcPts val="0"/>
              </a:spcBef>
              <a:spcAft>
                <a:spcPts val="0"/>
              </a:spcAft>
            </a:pPr>
            <a:r>
              <a:rPr sz="1600" b="0" i="0">
                <a:solidFill>
                  <a:srgbClr val="F1EDE6"/>
                </a:solidFill>
                <a:latin typeface="Trebuchet MS"/>
              </a:rPr>
              <a:t>Änderungen erscheinen </a:t>
            </a:r>
            <a:r>
              <a:rPr sz="1600" b="1" i="0">
                <a:solidFill>
                  <a:srgbClr val="FFA228"/>
                </a:solidFill>
                <a:latin typeface="Trebuchet MS"/>
              </a:rPr>
              <a:t>sofort</a:t>
            </a:r>
            <a:r>
              <a:rPr sz="1600" b="0" i="0">
                <a:solidFill>
                  <a:srgbClr val="F1EDE6"/>
                </a:solidFill>
                <a:latin typeface="Trebuchet MS"/>
              </a:rPr>
              <a:t> bei allen Mitgliedern - ohne die Seite neu zu laden. Möglich macht das </a:t>
            </a:r>
            <a:r>
              <a:rPr sz="1600" b="1" i="0">
                <a:solidFill>
                  <a:srgbClr val="76E3F1"/>
                </a:solidFill>
                <a:latin typeface="Trebuchet MS"/>
              </a:rPr>
              <a:t>Microsoft SignalR</a:t>
            </a:r>
            <a:r>
              <a:rPr sz="1600" b="0" i="0">
                <a:solidFill>
                  <a:srgbClr val="F1EDE6"/>
                </a:solidFill>
                <a:latin typeface="Trebuchet MS"/>
              </a:rPr>
              <a:t>.</a:t>
            </a:r>
          </a:p>
        </p:txBody>
      </p:sp>
      <p:sp>
        <p:nvSpPr>
          <p:cNvPr id="12" name="Rounded Rectangle 11"/>
          <p:cNvSpPr/>
          <p:nvPr/>
        </p:nvSpPr>
        <p:spPr>
          <a:xfrm>
            <a:off x="868680" y="2326005"/>
            <a:ext cx="2468880" cy="1097280"/>
          </a:xfrm>
          <a:prstGeom prst="roundRect">
            <a:avLst>
              <a:gd name="adj" fmla="val 12000"/>
            </a:avLst>
          </a:prstGeom>
          <a:solidFill>
            <a:srgbClr val="3A2F66"/>
          </a:solidFill>
          <a:ln w="19050">
            <a:solidFill>
              <a:srgbClr val="44B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2417445"/>
            <a:ext cx="2194560" cy="914400"/>
          </a:xfrm>
          <a:prstGeom prst="rect">
            <a:avLst/>
          </a:prstGeom>
          <a:noFill/>
        </p:spPr>
        <p:txBody>
          <a:bodyPr wrap="square" lIns="45720" tIns="18288" rIns="45720" bIns="18288" anchor="ctr">
            <a:spAutoFit/>
          </a:bodyPr>
          <a:lstStyle/>
          <a:p>
            <a:pPr algn="ctr">
              <a:spcBef>
                <a:spcPts val="0"/>
              </a:spcBef>
              <a:spcAft>
                <a:spcPts val="200"/>
              </a:spcAft>
            </a:pPr>
            <a:r>
              <a:rPr sz="1500" b="1" i="0" dirty="0" err="1">
                <a:solidFill>
                  <a:srgbClr val="F1EDE6"/>
                </a:solidFill>
                <a:latin typeface="Trebuchet MS"/>
              </a:rPr>
              <a:t>Nutzer</a:t>
            </a:r>
            <a:r>
              <a:rPr sz="1500" b="1" i="0" dirty="0">
                <a:solidFill>
                  <a:srgbClr val="F1EDE6"/>
                </a:solidFill>
                <a:latin typeface="Trebuchet MS"/>
              </a:rPr>
              <a:t> A</a:t>
            </a:r>
          </a:p>
          <a:p>
            <a:pPr algn="ctr">
              <a:spcBef>
                <a:spcPts val="0"/>
              </a:spcBef>
              <a:spcAft>
                <a:spcPts val="0"/>
              </a:spcAft>
            </a:pPr>
            <a:r>
              <a:rPr sz="1100" b="0" i="0" dirty="0" err="1">
                <a:solidFill>
                  <a:srgbClr val="B9AFD6"/>
                </a:solidFill>
                <a:latin typeface="Trebuchet MS"/>
              </a:rPr>
              <a:t>ändert</a:t>
            </a:r>
            <a:r>
              <a:rPr sz="1100" b="0" i="0" dirty="0">
                <a:solidFill>
                  <a:srgbClr val="B9AFD6"/>
                </a:solidFill>
                <a:latin typeface="Trebuchet MS"/>
              </a:rPr>
              <a:t> </a:t>
            </a:r>
            <a:r>
              <a:rPr sz="1100" b="0" i="0" dirty="0" err="1">
                <a:solidFill>
                  <a:srgbClr val="B9AFD6"/>
                </a:solidFill>
                <a:latin typeface="Trebuchet MS"/>
              </a:rPr>
              <a:t>ein</a:t>
            </a:r>
            <a:r>
              <a:rPr sz="1100" b="0" i="0" dirty="0">
                <a:solidFill>
                  <a:srgbClr val="B9AFD6"/>
                </a:solidFill>
                <a:latin typeface="Trebuchet MS"/>
              </a:rPr>
              <a:t> Todo</a:t>
            </a:r>
          </a:p>
        </p:txBody>
      </p:sp>
      <p:sp>
        <p:nvSpPr>
          <p:cNvPr id="14" name="Rounded Rectangle 13"/>
          <p:cNvSpPr/>
          <p:nvPr/>
        </p:nvSpPr>
        <p:spPr>
          <a:xfrm>
            <a:off x="868680" y="3789045"/>
            <a:ext cx="2468880" cy="1097280"/>
          </a:xfrm>
          <a:prstGeom prst="roundRect">
            <a:avLst>
              <a:gd name="adj" fmla="val 12000"/>
            </a:avLst>
          </a:prstGeom>
          <a:solidFill>
            <a:srgbClr val="3A2F66"/>
          </a:solidFill>
          <a:ln w="19050">
            <a:solidFill>
              <a:srgbClr val="44B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880485"/>
            <a:ext cx="2194560" cy="914400"/>
          </a:xfrm>
          <a:prstGeom prst="rect">
            <a:avLst/>
          </a:prstGeom>
          <a:noFill/>
        </p:spPr>
        <p:txBody>
          <a:bodyPr wrap="square" lIns="45720" tIns="18288" rIns="45720" bIns="18288" anchor="ctr">
            <a:spAutoFit/>
          </a:bodyPr>
          <a:lstStyle/>
          <a:p>
            <a:pPr algn="ctr">
              <a:spcBef>
                <a:spcPts val="0"/>
              </a:spcBef>
              <a:spcAft>
                <a:spcPts val="200"/>
              </a:spcAft>
            </a:pPr>
            <a:r>
              <a:rPr sz="1500" b="1" i="0">
                <a:solidFill>
                  <a:srgbClr val="F1EDE6"/>
                </a:solidFill>
                <a:latin typeface="Trebuchet MS"/>
              </a:rPr>
              <a:t>Nutzer B</a:t>
            </a:r>
          </a:p>
          <a:p>
            <a:pPr algn="ctr">
              <a:spcBef>
                <a:spcPts val="0"/>
              </a:spcBef>
              <a:spcAft>
                <a:spcPts val="0"/>
              </a:spcAft>
            </a:pPr>
            <a:r>
              <a:rPr sz="1100" b="0" i="0">
                <a:solidFill>
                  <a:srgbClr val="B9AFD6"/>
                </a:solidFill>
                <a:latin typeface="Trebuchet MS"/>
              </a:rPr>
              <a:t>sieht es sofort</a:t>
            </a:r>
          </a:p>
        </p:txBody>
      </p:sp>
      <p:sp>
        <p:nvSpPr>
          <p:cNvPr id="16" name="Rounded Rectangle 15"/>
          <p:cNvSpPr/>
          <p:nvPr/>
        </p:nvSpPr>
        <p:spPr>
          <a:xfrm>
            <a:off x="4297680" y="2920365"/>
            <a:ext cx="3108960" cy="1371600"/>
          </a:xfrm>
          <a:prstGeom prst="roundRect">
            <a:avLst>
              <a:gd name="adj" fmla="val 10000"/>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97680" y="3011805"/>
            <a:ext cx="3108960" cy="1188720"/>
          </a:xfrm>
          <a:prstGeom prst="rect">
            <a:avLst/>
          </a:prstGeom>
          <a:noFill/>
        </p:spPr>
        <p:txBody>
          <a:bodyPr wrap="square" lIns="45720" tIns="18288" rIns="45720" bIns="18288" anchor="ctr">
            <a:spAutoFit/>
          </a:bodyPr>
          <a:lstStyle/>
          <a:p>
            <a:pPr algn="ctr">
              <a:spcBef>
                <a:spcPts val="0"/>
              </a:spcBef>
              <a:spcAft>
                <a:spcPts val="200"/>
              </a:spcAft>
            </a:pPr>
            <a:r>
              <a:rPr sz="1700" b="1" i="0">
                <a:solidFill>
                  <a:srgbClr val="241C44"/>
                </a:solidFill>
                <a:latin typeface="Trebuchet MS"/>
              </a:rPr>
              <a:t>SignalR Hubs</a:t>
            </a:r>
          </a:p>
          <a:p>
            <a:pPr algn="ctr">
              <a:spcBef>
                <a:spcPts val="0"/>
              </a:spcBef>
              <a:spcAft>
                <a:spcPts val="0"/>
              </a:spcAft>
            </a:pPr>
            <a:r>
              <a:rPr sz="1050" b="0" i="0">
                <a:solidFill>
                  <a:srgbClr val="2B2147"/>
                </a:solidFill>
                <a:latin typeface="Trebuchet MS"/>
              </a:rPr>
              <a:t>Workspace · Note · Todo · Event · Chat</a:t>
            </a:r>
          </a:p>
        </p:txBody>
      </p:sp>
      <p:sp>
        <p:nvSpPr>
          <p:cNvPr id="18" name="Rounded Rectangle 17"/>
          <p:cNvSpPr/>
          <p:nvPr/>
        </p:nvSpPr>
        <p:spPr>
          <a:xfrm>
            <a:off x="8366760" y="2920365"/>
            <a:ext cx="2926080" cy="1371600"/>
          </a:xfrm>
          <a:prstGeom prst="roundRect">
            <a:avLst>
              <a:gd name="adj" fmla="val 12000"/>
            </a:avLst>
          </a:prstGeom>
          <a:solidFill>
            <a:srgbClr val="3A2F66"/>
          </a:solidFill>
          <a:ln w="19050">
            <a:solidFill>
              <a:srgbClr val="8560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03920" y="3011805"/>
            <a:ext cx="2651760" cy="1188720"/>
          </a:xfrm>
          <a:prstGeom prst="rect">
            <a:avLst/>
          </a:prstGeom>
          <a:noFill/>
        </p:spPr>
        <p:txBody>
          <a:bodyPr wrap="square" lIns="45720" tIns="18288" rIns="45720" bIns="18288" anchor="ctr">
            <a:spAutoFit/>
          </a:bodyPr>
          <a:lstStyle/>
          <a:p>
            <a:pPr algn="ctr">
              <a:spcBef>
                <a:spcPts val="0"/>
              </a:spcBef>
              <a:spcAft>
                <a:spcPts val="200"/>
              </a:spcAft>
            </a:pPr>
            <a:r>
              <a:rPr sz="1500" b="1" i="0">
                <a:solidFill>
                  <a:srgbClr val="F1EDE6"/>
                </a:solidFill>
                <a:latin typeface="Trebuchet MS"/>
              </a:rPr>
              <a:t>Alle im Space</a:t>
            </a:r>
          </a:p>
          <a:p>
            <a:pPr algn="ctr">
              <a:spcBef>
                <a:spcPts val="0"/>
              </a:spcBef>
              <a:spcAft>
                <a:spcPts val="0"/>
              </a:spcAft>
            </a:pPr>
            <a:r>
              <a:rPr sz="1100" b="0" i="0">
                <a:solidFill>
                  <a:srgbClr val="B9AFD6"/>
                </a:solidFill>
                <a:latin typeface="Trebuchet MS"/>
              </a:rPr>
              <a:t>erhalten das Update</a:t>
            </a:r>
          </a:p>
        </p:txBody>
      </p:sp>
      <p:cxnSp>
        <p:nvCxnSpPr>
          <p:cNvPr id="20" name="Connector 19"/>
          <p:cNvCxnSpPr/>
          <p:nvPr/>
        </p:nvCxnSpPr>
        <p:spPr>
          <a:xfrm>
            <a:off x="3337560" y="2874645"/>
            <a:ext cx="960120" cy="731519"/>
          </a:xfrm>
          <a:prstGeom prst="bentConnector3">
            <a:avLst/>
          </a:prstGeom>
          <a:ln w="25400">
            <a:solidFill>
              <a:srgbClr val="44B9C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337560" y="3606164"/>
            <a:ext cx="960120" cy="731521"/>
          </a:xfrm>
          <a:prstGeom prst="bentConnector3">
            <a:avLst/>
          </a:prstGeom>
          <a:ln w="25400">
            <a:solidFill>
              <a:srgbClr val="44B9C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06640" y="3606164"/>
            <a:ext cx="960120" cy="0"/>
          </a:xfrm>
          <a:prstGeom prst="bentConnector3">
            <a:avLst/>
          </a:prstGeom>
          <a:ln w="31750">
            <a:solidFill>
              <a:srgbClr val="FFA22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68680" y="5212080"/>
            <a:ext cx="3383280" cy="960120"/>
          </a:xfrm>
          <a:prstGeom prst="roundRect">
            <a:avLst>
              <a:gd name="adj" fmla="val 10000"/>
            </a:avLst>
          </a:prstGeom>
          <a:solidFill>
            <a:srgbClr val="2B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7280" y="5303520"/>
            <a:ext cx="3017520" cy="822960"/>
          </a:xfrm>
          <a:prstGeom prst="rect">
            <a:avLst/>
          </a:prstGeom>
          <a:noFill/>
        </p:spPr>
        <p:txBody>
          <a:bodyPr wrap="square" lIns="45720" tIns="18288" rIns="45720" bIns="18288" anchor="ctr">
            <a:spAutoFit/>
          </a:bodyPr>
          <a:lstStyle/>
          <a:p>
            <a:pPr algn="l">
              <a:spcBef>
                <a:spcPts val="0"/>
              </a:spcBef>
              <a:spcAft>
                <a:spcPts val="200"/>
              </a:spcAft>
            </a:pPr>
            <a:r>
              <a:rPr sz="1350" b="1" i="0" dirty="0" err="1">
                <a:solidFill>
                  <a:srgbClr val="76E3F1"/>
                </a:solidFill>
                <a:latin typeface="Trebuchet MS"/>
              </a:rPr>
              <a:t>Freundschaftssystem</a:t>
            </a:r>
            <a:endParaRPr sz="1350" b="1" i="0" dirty="0">
              <a:solidFill>
                <a:srgbClr val="76E3F1"/>
              </a:solidFill>
              <a:latin typeface="Trebuchet MS"/>
            </a:endParaRPr>
          </a:p>
          <a:p>
            <a:pPr algn="l">
              <a:spcBef>
                <a:spcPts val="0"/>
              </a:spcBef>
              <a:spcAft>
                <a:spcPts val="0"/>
              </a:spcAft>
            </a:pPr>
            <a:r>
              <a:rPr sz="1050" b="0" i="0" dirty="0" err="1">
                <a:solidFill>
                  <a:srgbClr val="B9AFD6"/>
                </a:solidFill>
                <a:latin typeface="Trebuchet MS"/>
              </a:rPr>
              <a:t>Anfragen</a:t>
            </a:r>
            <a:r>
              <a:rPr sz="1050" b="0" i="0" dirty="0">
                <a:solidFill>
                  <a:srgbClr val="B9AFD6"/>
                </a:solidFill>
                <a:latin typeface="Trebuchet MS"/>
              </a:rPr>
              <a:t>, </a:t>
            </a:r>
            <a:r>
              <a:rPr sz="1050" b="0" i="0" dirty="0" err="1">
                <a:solidFill>
                  <a:srgbClr val="B9AFD6"/>
                </a:solidFill>
                <a:latin typeface="Trebuchet MS"/>
              </a:rPr>
              <a:t>Freundesliste</a:t>
            </a:r>
            <a:r>
              <a:rPr sz="1050" b="0" i="0" dirty="0">
                <a:solidFill>
                  <a:srgbClr val="B9AFD6"/>
                </a:solidFill>
                <a:latin typeface="Trebuchet MS"/>
              </a:rPr>
              <a:t>, </a:t>
            </a:r>
            <a:r>
              <a:rPr sz="1050" b="0" i="0" dirty="0" err="1">
                <a:solidFill>
                  <a:srgbClr val="B9AFD6"/>
                </a:solidFill>
                <a:latin typeface="Trebuchet MS"/>
              </a:rPr>
              <a:t>gemeinsame</a:t>
            </a:r>
            <a:r>
              <a:rPr sz="1050" b="0" i="0" dirty="0">
                <a:solidFill>
                  <a:srgbClr val="B9AFD6"/>
                </a:solidFill>
                <a:latin typeface="Trebuchet MS"/>
              </a:rPr>
              <a:t> Spaces</a:t>
            </a:r>
          </a:p>
        </p:txBody>
      </p:sp>
      <p:sp>
        <p:nvSpPr>
          <p:cNvPr id="25" name="Rounded Rectangle 24"/>
          <p:cNvSpPr/>
          <p:nvPr/>
        </p:nvSpPr>
        <p:spPr>
          <a:xfrm>
            <a:off x="4462272" y="5212080"/>
            <a:ext cx="3383280" cy="960120"/>
          </a:xfrm>
          <a:prstGeom prst="roundRect">
            <a:avLst>
              <a:gd name="adj" fmla="val 10000"/>
            </a:avLst>
          </a:prstGeom>
          <a:solidFill>
            <a:srgbClr val="2B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90872" y="5303520"/>
            <a:ext cx="3017520" cy="822960"/>
          </a:xfrm>
          <a:prstGeom prst="rect">
            <a:avLst/>
          </a:prstGeom>
          <a:noFill/>
        </p:spPr>
        <p:txBody>
          <a:bodyPr wrap="square" lIns="45720" tIns="18288" rIns="45720" bIns="18288" anchor="ctr">
            <a:spAutoFit/>
          </a:bodyPr>
          <a:lstStyle/>
          <a:p>
            <a:pPr algn="l">
              <a:spcBef>
                <a:spcPts val="0"/>
              </a:spcBef>
              <a:spcAft>
                <a:spcPts val="200"/>
              </a:spcAft>
            </a:pPr>
            <a:r>
              <a:rPr sz="1350" b="1" i="0">
                <a:solidFill>
                  <a:srgbClr val="76E3F1"/>
                </a:solidFill>
                <a:latin typeface="Trebuchet MS"/>
              </a:rPr>
              <a:t>Präsenzsystem</a:t>
            </a:r>
          </a:p>
          <a:p>
            <a:pPr algn="l">
              <a:spcBef>
                <a:spcPts val="0"/>
              </a:spcBef>
              <a:spcAft>
                <a:spcPts val="0"/>
              </a:spcAft>
            </a:pPr>
            <a:r>
              <a:rPr sz="1050" b="0" i="0">
                <a:solidFill>
                  <a:srgbClr val="B9AFD6"/>
                </a:solidFill>
                <a:latin typeface="Trebuchet MS"/>
              </a:rPr>
              <a:t>Online-Status der Nutzer in Echtzeit</a:t>
            </a:r>
          </a:p>
        </p:txBody>
      </p:sp>
      <p:sp>
        <p:nvSpPr>
          <p:cNvPr id="27" name="Rounded Rectangle 26"/>
          <p:cNvSpPr/>
          <p:nvPr/>
        </p:nvSpPr>
        <p:spPr>
          <a:xfrm>
            <a:off x="8055864" y="5212080"/>
            <a:ext cx="3383280" cy="960120"/>
          </a:xfrm>
          <a:prstGeom prst="roundRect">
            <a:avLst>
              <a:gd name="adj" fmla="val 10000"/>
            </a:avLst>
          </a:prstGeom>
          <a:solidFill>
            <a:srgbClr val="2B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84464" y="5303520"/>
            <a:ext cx="3017520" cy="822960"/>
          </a:xfrm>
          <a:prstGeom prst="rect">
            <a:avLst/>
          </a:prstGeom>
          <a:noFill/>
        </p:spPr>
        <p:txBody>
          <a:bodyPr wrap="square" lIns="45720" tIns="18288" rIns="45720" bIns="18288" anchor="ctr">
            <a:spAutoFit/>
          </a:bodyPr>
          <a:lstStyle/>
          <a:p>
            <a:pPr algn="l">
              <a:spcBef>
                <a:spcPts val="0"/>
              </a:spcBef>
              <a:spcAft>
                <a:spcPts val="200"/>
              </a:spcAft>
            </a:pPr>
            <a:r>
              <a:rPr sz="1350" b="1" i="0">
                <a:solidFill>
                  <a:srgbClr val="76E3F1"/>
                </a:solidFill>
                <a:latin typeface="Trebuchet MS"/>
              </a:rPr>
              <a:t>Chatsystem</a:t>
            </a:r>
          </a:p>
          <a:p>
            <a:pPr algn="l">
              <a:spcBef>
                <a:spcPts val="0"/>
              </a:spcBef>
              <a:spcAft>
                <a:spcPts val="0"/>
              </a:spcAft>
            </a:pPr>
            <a:r>
              <a:rPr sz="1050" b="0" i="0">
                <a:solidFill>
                  <a:srgbClr val="B9AFD6"/>
                </a:solidFill>
                <a:latin typeface="Trebuchet MS"/>
              </a:rPr>
              <a:t>Direktnachrichten über denselben Echtzeit-Kanal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WOMIT LUMIFY GEBAUT IST</a:t>
            </a:r>
          </a:p>
          <a:p>
            <a:pPr algn="l">
              <a:spcBef>
                <a:spcPts val="0"/>
              </a:spcBef>
              <a:spcAft>
                <a:spcPts val="0"/>
              </a:spcAft>
            </a:pPr>
            <a:r>
              <a:rPr sz="3200" b="1" i="0">
                <a:solidFill>
                  <a:srgbClr val="F1EDE6"/>
                </a:solidFill>
                <a:latin typeface="Trebuchet MS"/>
              </a:rPr>
              <a:t>Technologie-Stack</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13</a:t>
            </a:r>
          </a:p>
        </p:txBody>
      </p:sp>
      <p:sp>
        <p:nvSpPr>
          <p:cNvPr id="9" name="Rounded Rectangle 8"/>
          <p:cNvSpPr/>
          <p:nvPr/>
        </p:nvSpPr>
        <p:spPr>
          <a:xfrm>
            <a:off x="868680" y="1554480"/>
            <a:ext cx="3383280" cy="4526280"/>
          </a:xfrm>
          <a:prstGeom prst="roundRect">
            <a:avLst>
              <a:gd name="adj" fmla="val 5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68680" y="1554480"/>
            <a:ext cx="3383280" cy="685800"/>
          </a:xfrm>
          <a:prstGeom prst="roundRect">
            <a:avLst>
              <a:gd name="adj" fmla="val 5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3000" y="1600200"/>
            <a:ext cx="2834640" cy="594360"/>
          </a:xfrm>
          <a:prstGeom prst="rect">
            <a:avLst/>
          </a:prstGeom>
          <a:noFill/>
        </p:spPr>
        <p:txBody>
          <a:bodyPr wrap="square" lIns="45720" tIns="18288" rIns="45720" bIns="18288" anchor="ctr">
            <a:spAutoFit/>
          </a:bodyPr>
          <a:lstStyle/>
          <a:p>
            <a:pPr algn="l">
              <a:spcBef>
                <a:spcPts val="0"/>
              </a:spcBef>
              <a:spcAft>
                <a:spcPts val="0"/>
              </a:spcAft>
            </a:pPr>
            <a:r>
              <a:rPr sz="1700" b="1" i="0">
                <a:solidFill>
                  <a:srgbClr val="241C44"/>
                </a:solidFill>
                <a:latin typeface="Trebuchet MS"/>
              </a:rPr>
              <a:t>Frontend</a:t>
            </a:r>
          </a:p>
        </p:txBody>
      </p:sp>
      <p:sp>
        <p:nvSpPr>
          <p:cNvPr id="12" name="TextBox 11"/>
          <p:cNvSpPr txBox="1"/>
          <p:nvPr/>
        </p:nvSpPr>
        <p:spPr>
          <a:xfrm>
            <a:off x="1143000" y="2423160"/>
            <a:ext cx="2880360" cy="914400"/>
          </a:xfrm>
          <a:prstGeom prst="rect">
            <a:avLst/>
          </a:prstGeom>
          <a:noFill/>
        </p:spPr>
        <p:txBody>
          <a:bodyPr wrap="square" lIns="45720" tIns="18288" rIns="45720" bIns="18288" anchor="t">
            <a:spAutoFit/>
          </a:bodyPr>
          <a:lstStyle/>
          <a:p>
            <a:pPr algn="l">
              <a:spcBef>
                <a:spcPts val="0"/>
              </a:spcBef>
              <a:spcAft>
                <a:spcPts val="100"/>
              </a:spcAft>
            </a:pPr>
            <a:r>
              <a:rPr sz="1350" b="1" i="0">
                <a:solidFill>
                  <a:srgbClr val="F1EDE6"/>
                </a:solidFill>
                <a:latin typeface="Trebuchet MS"/>
              </a:rPr>
              <a:t>Next.js 16 / React 19</a:t>
            </a:r>
          </a:p>
          <a:p>
            <a:pPr algn="l">
              <a:spcBef>
                <a:spcPts val="0"/>
              </a:spcBef>
              <a:spcAft>
                <a:spcPts val="0"/>
              </a:spcAft>
            </a:pPr>
            <a:r>
              <a:rPr sz="1100" b="0" i="0">
                <a:solidFill>
                  <a:srgbClr val="B9AFD6"/>
                </a:solidFill>
                <a:latin typeface="Trebuchet MS"/>
              </a:rPr>
              <a:t>UI, Routing &amp; Server-Komponenten</a:t>
            </a:r>
          </a:p>
        </p:txBody>
      </p:sp>
      <p:sp>
        <p:nvSpPr>
          <p:cNvPr id="13" name="TextBox 12"/>
          <p:cNvSpPr txBox="1"/>
          <p:nvPr/>
        </p:nvSpPr>
        <p:spPr>
          <a:xfrm>
            <a:off x="1143000" y="3337560"/>
            <a:ext cx="2880360" cy="914400"/>
          </a:xfrm>
          <a:prstGeom prst="rect">
            <a:avLst/>
          </a:prstGeom>
          <a:noFill/>
        </p:spPr>
        <p:txBody>
          <a:bodyPr wrap="square" lIns="45720" tIns="18288" rIns="45720" bIns="18288" anchor="t">
            <a:spAutoFit/>
          </a:bodyPr>
          <a:lstStyle/>
          <a:p>
            <a:pPr algn="l">
              <a:spcBef>
                <a:spcPts val="0"/>
              </a:spcBef>
              <a:spcAft>
                <a:spcPts val="100"/>
              </a:spcAft>
            </a:pPr>
            <a:r>
              <a:rPr sz="1350" b="1" i="0">
                <a:solidFill>
                  <a:srgbClr val="F1EDE6"/>
                </a:solidFill>
                <a:latin typeface="Trebuchet MS"/>
              </a:rPr>
              <a:t>TypeScript</a:t>
            </a:r>
          </a:p>
          <a:p>
            <a:pPr algn="l">
              <a:spcBef>
                <a:spcPts val="0"/>
              </a:spcBef>
              <a:spcAft>
                <a:spcPts val="0"/>
              </a:spcAft>
            </a:pPr>
            <a:r>
              <a:rPr sz="1100" b="0" i="0">
                <a:solidFill>
                  <a:srgbClr val="B9AFD6"/>
                </a:solidFill>
                <a:latin typeface="Trebuchet MS"/>
              </a:rPr>
              <a:t>Typsicherheit im gesamten Frontend</a:t>
            </a:r>
          </a:p>
        </p:txBody>
      </p:sp>
      <p:sp>
        <p:nvSpPr>
          <p:cNvPr id="14" name="TextBox 13"/>
          <p:cNvSpPr txBox="1"/>
          <p:nvPr/>
        </p:nvSpPr>
        <p:spPr>
          <a:xfrm>
            <a:off x="1143000" y="4251960"/>
            <a:ext cx="2880360" cy="426784"/>
          </a:xfrm>
          <a:prstGeom prst="rect">
            <a:avLst/>
          </a:prstGeom>
          <a:noFill/>
        </p:spPr>
        <p:txBody>
          <a:bodyPr wrap="square" lIns="45720" tIns="18288" rIns="45720" bIns="18288" anchor="t">
            <a:spAutoFit/>
          </a:bodyPr>
          <a:lstStyle/>
          <a:p>
            <a:pPr algn="l">
              <a:spcBef>
                <a:spcPts val="0"/>
              </a:spcBef>
              <a:spcAft>
                <a:spcPts val="100"/>
              </a:spcAft>
            </a:pPr>
            <a:r>
              <a:rPr lang="de-AT" sz="1350" b="1" i="0" dirty="0">
                <a:solidFill>
                  <a:srgbClr val="F1EDE6"/>
                </a:solidFill>
                <a:latin typeface="Trebuchet MS"/>
              </a:rPr>
              <a:t>Proxy</a:t>
            </a:r>
            <a:endParaRPr sz="1350" b="1" i="0" dirty="0">
              <a:solidFill>
                <a:srgbClr val="F1EDE6"/>
              </a:solidFill>
              <a:latin typeface="Trebuchet MS"/>
            </a:endParaRPr>
          </a:p>
          <a:p>
            <a:pPr algn="l">
              <a:spcBef>
                <a:spcPts val="0"/>
              </a:spcBef>
              <a:spcAft>
                <a:spcPts val="0"/>
              </a:spcAft>
            </a:pPr>
            <a:r>
              <a:rPr lang="de-AT" sz="1100" b="0" i="0" dirty="0">
                <a:solidFill>
                  <a:srgbClr val="B9AFD6"/>
                </a:solidFill>
                <a:latin typeface="Trebuchet MS"/>
              </a:rPr>
              <a:t>Türsteher im Frontend</a:t>
            </a:r>
            <a:endParaRPr sz="1100" b="0" i="0" dirty="0">
              <a:solidFill>
                <a:srgbClr val="B9AFD6"/>
              </a:solidFill>
              <a:latin typeface="Trebuchet MS"/>
            </a:endParaRPr>
          </a:p>
        </p:txBody>
      </p:sp>
      <p:sp>
        <p:nvSpPr>
          <p:cNvPr id="15" name="TextBox 14"/>
          <p:cNvSpPr txBox="1"/>
          <p:nvPr/>
        </p:nvSpPr>
        <p:spPr>
          <a:xfrm>
            <a:off x="1143000" y="5166360"/>
            <a:ext cx="2880360" cy="914400"/>
          </a:xfrm>
          <a:prstGeom prst="rect">
            <a:avLst/>
          </a:prstGeom>
          <a:noFill/>
        </p:spPr>
        <p:txBody>
          <a:bodyPr wrap="square" lIns="45720" tIns="18288" rIns="45720" bIns="18288" anchor="t">
            <a:spAutoFit/>
          </a:bodyPr>
          <a:lstStyle/>
          <a:p>
            <a:pPr algn="l">
              <a:spcBef>
                <a:spcPts val="0"/>
              </a:spcBef>
              <a:spcAft>
                <a:spcPts val="100"/>
              </a:spcAft>
            </a:pPr>
            <a:r>
              <a:rPr sz="1350" b="1" i="0" dirty="0">
                <a:solidFill>
                  <a:srgbClr val="F1EDE6"/>
                </a:solidFill>
                <a:latin typeface="Trebuchet MS"/>
              </a:rPr>
              <a:t>Optimistic UI</a:t>
            </a:r>
          </a:p>
          <a:p>
            <a:pPr algn="l">
              <a:spcBef>
                <a:spcPts val="0"/>
              </a:spcBef>
              <a:spcAft>
                <a:spcPts val="0"/>
              </a:spcAft>
            </a:pPr>
            <a:r>
              <a:rPr sz="1100" b="0" i="0" dirty="0" err="1">
                <a:solidFill>
                  <a:srgbClr val="B9AFD6"/>
                </a:solidFill>
                <a:latin typeface="Trebuchet MS"/>
              </a:rPr>
              <a:t>Aktionen</a:t>
            </a:r>
            <a:r>
              <a:rPr sz="1100" b="0" i="0" dirty="0">
                <a:solidFill>
                  <a:srgbClr val="B9AFD6"/>
                </a:solidFill>
                <a:latin typeface="Trebuchet MS"/>
              </a:rPr>
              <a:t> </a:t>
            </a:r>
            <a:r>
              <a:rPr sz="1100" b="0" i="0" dirty="0" err="1">
                <a:solidFill>
                  <a:srgbClr val="B9AFD6"/>
                </a:solidFill>
                <a:latin typeface="Trebuchet MS"/>
              </a:rPr>
              <a:t>wirken</a:t>
            </a:r>
            <a:r>
              <a:rPr sz="1100" b="0" i="0" dirty="0">
                <a:solidFill>
                  <a:srgbClr val="B9AFD6"/>
                </a:solidFill>
                <a:latin typeface="Trebuchet MS"/>
              </a:rPr>
              <a:t> </a:t>
            </a:r>
            <a:r>
              <a:rPr sz="1100" b="0" i="0" dirty="0" err="1">
                <a:solidFill>
                  <a:srgbClr val="B9AFD6"/>
                </a:solidFill>
                <a:latin typeface="Trebuchet MS"/>
              </a:rPr>
              <a:t>sofort</a:t>
            </a:r>
            <a:r>
              <a:rPr sz="1100" b="0" i="0" dirty="0">
                <a:solidFill>
                  <a:srgbClr val="B9AFD6"/>
                </a:solidFill>
                <a:latin typeface="Trebuchet MS"/>
              </a:rPr>
              <a:t>, bevor der Server </a:t>
            </a:r>
            <a:r>
              <a:rPr sz="1100" b="0" i="0" dirty="0" err="1">
                <a:solidFill>
                  <a:srgbClr val="B9AFD6"/>
                </a:solidFill>
                <a:latin typeface="Trebuchet MS"/>
              </a:rPr>
              <a:t>antwortet</a:t>
            </a:r>
            <a:endParaRPr sz="1100" b="0" i="0" dirty="0">
              <a:solidFill>
                <a:srgbClr val="B9AFD6"/>
              </a:solidFill>
              <a:latin typeface="Trebuchet MS"/>
            </a:endParaRPr>
          </a:p>
        </p:txBody>
      </p:sp>
      <p:sp>
        <p:nvSpPr>
          <p:cNvPr id="16" name="Rounded Rectangle 15"/>
          <p:cNvSpPr/>
          <p:nvPr/>
        </p:nvSpPr>
        <p:spPr>
          <a:xfrm>
            <a:off x="4462272" y="1554480"/>
            <a:ext cx="3383280" cy="4526280"/>
          </a:xfrm>
          <a:prstGeom prst="roundRect">
            <a:avLst>
              <a:gd name="adj" fmla="val 5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462272" y="1554480"/>
            <a:ext cx="3383280" cy="685800"/>
          </a:xfrm>
          <a:prstGeom prst="roundRect">
            <a:avLst>
              <a:gd name="adj" fmla="val 5000"/>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36592" y="1600200"/>
            <a:ext cx="2834640" cy="594360"/>
          </a:xfrm>
          <a:prstGeom prst="rect">
            <a:avLst/>
          </a:prstGeom>
          <a:noFill/>
        </p:spPr>
        <p:txBody>
          <a:bodyPr wrap="square" lIns="45720" tIns="18288" rIns="45720" bIns="18288" anchor="ctr">
            <a:spAutoFit/>
          </a:bodyPr>
          <a:lstStyle/>
          <a:p>
            <a:pPr algn="l">
              <a:spcBef>
                <a:spcPts val="0"/>
              </a:spcBef>
              <a:spcAft>
                <a:spcPts val="0"/>
              </a:spcAft>
            </a:pPr>
            <a:r>
              <a:rPr sz="1700" b="1" i="0">
                <a:solidFill>
                  <a:srgbClr val="241C44"/>
                </a:solidFill>
                <a:latin typeface="Trebuchet MS"/>
              </a:rPr>
              <a:t>Backend</a:t>
            </a:r>
          </a:p>
        </p:txBody>
      </p:sp>
      <p:sp>
        <p:nvSpPr>
          <p:cNvPr id="19" name="TextBox 18"/>
          <p:cNvSpPr txBox="1"/>
          <p:nvPr/>
        </p:nvSpPr>
        <p:spPr>
          <a:xfrm>
            <a:off x="4736592" y="2423160"/>
            <a:ext cx="2880360" cy="914400"/>
          </a:xfrm>
          <a:prstGeom prst="rect">
            <a:avLst/>
          </a:prstGeom>
          <a:noFill/>
        </p:spPr>
        <p:txBody>
          <a:bodyPr wrap="square" lIns="45720" tIns="18288" rIns="45720" bIns="18288" anchor="t">
            <a:spAutoFit/>
          </a:bodyPr>
          <a:lstStyle/>
          <a:p>
            <a:pPr algn="l">
              <a:spcBef>
                <a:spcPts val="0"/>
              </a:spcBef>
              <a:spcAft>
                <a:spcPts val="100"/>
              </a:spcAft>
            </a:pPr>
            <a:r>
              <a:rPr sz="1350" b="1" i="0">
                <a:solidFill>
                  <a:srgbClr val="76E3F1"/>
                </a:solidFill>
                <a:latin typeface="Trebuchet MS"/>
              </a:rPr>
              <a:t>C# / .NET API</a:t>
            </a:r>
          </a:p>
          <a:p>
            <a:pPr algn="l">
              <a:spcBef>
                <a:spcPts val="0"/>
              </a:spcBef>
              <a:spcAft>
                <a:spcPts val="0"/>
              </a:spcAft>
            </a:pPr>
            <a:r>
              <a:rPr sz="1100" b="0" i="0">
                <a:solidFill>
                  <a:srgbClr val="B9AFD6"/>
                </a:solidFill>
                <a:latin typeface="Trebuchet MS"/>
              </a:rPr>
              <a:t>Zentrale Logik &amp; REST-Endpunkte (CRUD)</a:t>
            </a:r>
          </a:p>
        </p:txBody>
      </p:sp>
      <p:sp>
        <p:nvSpPr>
          <p:cNvPr id="20" name="TextBox 19"/>
          <p:cNvSpPr txBox="1"/>
          <p:nvPr/>
        </p:nvSpPr>
        <p:spPr>
          <a:xfrm>
            <a:off x="4736592" y="3337560"/>
            <a:ext cx="2880360" cy="914400"/>
          </a:xfrm>
          <a:prstGeom prst="rect">
            <a:avLst/>
          </a:prstGeom>
          <a:noFill/>
        </p:spPr>
        <p:txBody>
          <a:bodyPr wrap="square" lIns="45720" tIns="18288" rIns="45720" bIns="18288" anchor="t">
            <a:spAutoFit/>
          </a:bodyPr>
          <a:lstStyle/>
          <a:p>
            <a:pPr algn="l">
              <a:spcBef>
                <a:spcPts val="0"/>
              </a:spcBef>
              <a:spcAft>
                <a:spcPts val="100"/>
              </a:spcAft>
            </a:pPr>
            <a:r>
              <a:rPr sz="1350" b="1" i="0">
                <a:solidFill>
                  <a:srgbClr val="76E3F1"/>
                </a:solidFill>
                <a:latin typeface="Trebuchet MS"/>
              </a:rPr>
              <a:t>Entity Framework</a:t>
            </a:r>
          </a:p>
          <a:p>
            <a:pPr algn="l">
              <a:spcBef>
                <a:spcPts val="0"/>
              </a:spcBef>
              <a:spcAft>
                <a:spcPts val="0"/>
              </a:spcAft>
            </a:pPr>
            <a:r>
              <a:rPr sz="1100" b="0" i="0">
                <a:solidFill>
                  <a:srgbClr val="B9AFD6"/>
                </a:solidFill>
                <a:latin typeface="Trebuchet MS"/>
              </a:rPr>
              <a:t>Datenbankzugriff &amp; Migrations</a:t>
            </a:r>
          </a:p>
        </p:txBody>
      </p:sp>
      <p:sp>
        <p:nvSpPr>
          <p:cNvPr id="21" name="TextBox 20"/>
          <p:cNvSpPr txBox="1"/>
          <p:nvPr/>
        </p:nvSpPr>
        <p:spPr>
          <a:xfrm>
            <a:off x="4736592" y="4251960"/>
            <a:ext cx="2880360" cy="914400"/>
          </a:xfrm>
          <a:prstGeom prst="rect">
            <a:avLst/>
          </a:prstGeom>
          <a:noFill/>
        </p:spPr>
        <p:txBody>
          <a:bodyPr wrap="square" lIns="45720" tIns="18288" rIns="45720" bIns="18288" anchor="t">
            <a:spAutoFit/>
          </a:bodyPr>
          <a:lstStyle/>
          <a:p>
            <a:pPr algn="l">
              <a:spcBef>
                <a:spcPts val="0"/>
              </a:spcBef>
              <a:spcAft>
                <a:spcPts val="100"/>
              </a:spcAft>
            </a:pPr>
            <a:r>
              <a:rPr sz="1350" b="1" i="0">
                <a:solidFill>
                  <a:srgbClr val="76E3F1"/>
                </a:solidFill>
                <a:latin typeface="Trebuchet MS"/>
              </a:rPr>
              <a:t>SignalR Hubs</a:t>
            </a:r>
          </a:p>
          <a:p>
            <a:pPr algn="l">
              <a:spcBef>
                <a:spcPts val="0"/>
              </a:spcBef>
              <a:spcAft>
                <a:spcPts val="0"/>
              </a:spcAft>
            </a:pPr>
            <a:r>
              <a:rPr sz="1100" b="0" i="0">
                <a:solidFill>
                  <a:srgbClr val="B9AFD6"/>
                </a:solidFill>
                <a:latin typeface="Trebuchet MS"/>
              </a:rPr>
              <a:t>Echtzeit-Kommunikation</a:t>
            </a:r>
          </a:p>
        </p:txBody>
      </p:sp>
      <p:sp>
        <p:nvSpPr>
          <p:cNvPr id="22" name="TextBox 21"/>
          <p:cNvSpPr txBox="1"/>
          <p:nvPr/>
        </p:nvSpPr>
        <p:spPr>
          <a:xfrm>
            <a:off x="4736592" y="5166360"/>
            <a:ext cx="2880360" cy="914400"/>
          </a:xfrm>
          <a:prstGeom prst="rect">
            <a:avLst/>
          </a:prstGeom>
          <a:noFill/>
        </p:spPr>
        <p:txBody>
          <a:bodyPr wrap="square" lIns="45720" tIns="18288" rIns="45720" bIns="18288" anchor="t">
            <a:spAutoFit/>
          </a:bodyPr>
          <a:lstStyle/>
          <a:p>
            <a:pPr algn="l">
              <a:spcBef>
                <a:spcPts val="0"/>
              </a:spcBef>
              <a:spcAft>
                <a:spcPts val="100"/>
              </a:spcAft>
            </a:pPr>
            <a:r>
              <a:rPr sz="1350" b="1" i="0">
                <a:solidFill>
                  <a:srgbClr val="76E3F1"/>
                </a:solidFill>
                <a:latin typeface="Trebuchet MS"/>
              </a:rPr>
              <a:t>Services &amp; DTOs</a:t>
            </a:r>
          </a:p>
          <a:p>
            <a:pPr algn="l">
              <a:spcBef>
                <a:spcPts val="0"/>
              </a:spcBef>
              <a:spcAft>
                <a:spcPts val="0"/>
              </a:spcAft>
            </a:pPr>
            <a:r>
              <a:rPr sz="1100" b="0" i="0">
                <a:solidFill>
                  <a:srgbClr val="B9AFD6"/>
                </a:solidFill>
                <a:latin typeface="Trebuchet MS"/>
              </a:rPr>
              <a:t>Präsenz, E-Mail, saubere Datenübergabe</a:t>
            </a:r>
          </a:p>
        </p:txBody>
      </p:sp>
      <p:sp>
        <p:nvSpPr>
          <p:cNvPr id="23" name="Rounded Rectangle 22"/>
          <p:cNvSpPr/>
          <p:nvPr/>
        </p:nvSpPr>
        <p:spPr>
          <a:xfrm>
            <a:off x="8055864" y="1554480"/>
            <a:ext cx="3383280" cy="4526280"/>
          </a:xfrm>
          <a:prstGeom prst="roundRect">
            <a:avLst>
              <a:gd name="adj" fmla="val 5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055864" y="1554480"/>
            <a:ext cx="3383280" cy="685800"/>
          </a:xfrm>
          <a:prstGeom prst="roundRect">
            <a:avLst>
              <a:gd name="adj" fmla="val 5000"/>
            </a:avLst>
          </a:prstGeom>
          <a:solidFill>
            <a:srgbClr val="856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0184" y="1600200"/>
            <a:ext cx="2834640" cy="594360"/>
          </a:xfrm>
          <a:prstGeom prst="rect">
            <a:avLst/>
          </a:prstGeom>
          <a:noFill/>
        </p:spPr>
        <p:txBody>
          <a:bodyPr wrap="square" lIns="45720" tIns="18288" rIns="45720" bIns="18288" anchor="ctr">
            <a:spAutoFit/>
          </a:bodyPr>
          <a:lstStyle/>
          <a:p>
            <a:pPr algn="l">
              <a:spcBef>
                <a:spcPts val="0"/>
              </a:spcBef>
              <a:spcAft>
                <a:spcPts val="0"/>
              </a:spcAft>
            </a:pPr>
            <a:r>
              <a:rPr sz="1700" b="1" i="0">
                <a:solidFill>
                  <a:srgbClr val="241C44"/>
                </a:solidFill>
                <a:latin typeface="Trebuchet MS"/>
              </a:rPr>
              <a:t>Daten &amp; Betrieb</a:t>
            </a:r>
          </a:p>
        </p:txBody>
      </p:sp>
      <p:sp>
        <p:nvSpPr>
          <p:cNvPr id="26" name="TextBox 25"/>
          <p:cNvSpPr txBox="1"/>
          <p:nvPr/>
        </p:nvSpPr>
        <p:spPr>
          <a:xfrm>
            <a:off x="8330184" y="2423160"/>
            <a:ext cx="2880360" cy="914400"/>
          </a:xfrm>
          <a:prstGeom prst="rect">
            <a:avLst/>
          </a:prstGeom>
          <a:noFill/>
        </p:spPr>
        <p:txBody>
          <a:bodyPr wrap="square" lIns="45720" tIns="18288" rIns="45720" bIns="18288" anchor="t">
            <a:spAutoFit/>
          </a:bodyPr>
          <a:lstStyle/>
          <a:p>
            <a:pPr algn="l">
              <a:spcBef>
                <a:spcPts val="0"/>
              </a:spcBef>
              <a:spcAft>
                <a:spcPts val="100"/>
              </a:spcAft>
            </a:pPr>
            <a:r>
              <a:rPr sz="1350" b="1" i="0">
                <a:solidFill>
                  <a:srgbClr val="76E3F1"/>
                </a:solidFill>
                <a:latin typeface="Trebuchet MS"/>
              </a:rPr>
              <a:t>Relationale Datenbank</a:t>
            </a:r>
          </a:p>
          <a:p>
            <a:pPr algn="l">
              <a:spcBef>
                <a:spcPts val="0"/>
              </a:spcBef>
              <a:spcAft>
                <a:spcPts val="0"/>
              </a:spcAft>
            </a:pPr>
            <a:r>
              <a:rPr sz="1100" b="0" i="0">
                <a:solidFill>
                  <a:srgbClr val="B9AFD6"/>
                </a:solidFill>
                <a:latin typeface="Trebuchet MS"/>
              </a:rPr>
              <a:t>Nutzer-, Workspace- &amp; Feature-Daten</a:t>
            </a:r>
          </a:p>
        </p:txBody>
      </p:sp>
      <p:sp>
        <p:nvSpPr>
          <p:cNvPr id="27" name="TextBox 26"/>
          <p:cNvSpPr txBox="1"/>
          <p:nvPr/>
        </p:nvSpPr>
        <p:spPr>
          <a:xfrm>
            <a:off x="8330184" y="3337560"/>
            <a:ext cx="2880360" cy="914400"/>
          </a:xfrm>
          <a:prstGeom prst="rect">
            <a:avLst/>
          </a:prstGeom>
          <a:noFill/>
        </p:spPr>
        <p:txBody>
          <a:bodyPr wrap="square" lIns="45720" tIns="18288" rIns="45720" bIns="18288" anchor="t">
            <a:spAutoFit/>
          </a:bodyPr>
          <a:lstStyle/>
          <a:p>
            <a:pPr algn="l">
              <a:spcBef>
                <a:spcPts val="0"/>
              </a:spcBef>
              <a:spcAft>
                <a:spcPts val="100"/>
              </a:spcAft>
            </a:pPr>
            <a:r>
              <a:rPr sz="1350" b="1" i="0">
                <a:solidFill>
                  <a:srgbClr val="76E3F1"/>
                </a:solidFill>
                <a:latin typeface="Trebuchet MS"/>
              </a:rPr>
              <a:t>Docker / Compose</a:t>
            </a:r>
          </a:p>
          <a:p>
            <a:pPr algn="l">
              <a:spcBef>
                <a:spcPts val="0"/>
              </a:spcBef>
              <a:spcAft>
                <a:spcPts val="0"/>
              </a:spcAft>
            </a:pPr>
            <a:r>
              <a:rPr sz="1100" b="0" i="0">
                <a:solidFill>
                  <a:srgbClr val="B9AFD6"/>
                </a:solidFill>
                <a:latin typeface="Trebuchet MS"/>
              </a:rPr>
              <a:t>Reproduzierbares Deployment</a:t>
            </a:r>
          </a:p>
        </p:txBody>
      </p:sp>
      <p:sp>
        <p:nvSpPr>
          <p:cNvPr id="28" name="TextBox 27"/>
          <p:cNvSpPr txBox="1"/>
          <p:nvPr/>
        </p:nvSpPr>
        <p:spPr>
          <a:xfrm>
            <a:off x="8330184" y="4251960"/>
            <a:ext cx="2880360" cy="914400"/>
          </a:xfrm>
          <a:prstGeom prst="rect">
            <a:avLst/>
          </a:prstGeom>
          <a:noFill/>
        </p:spPr>
        <p:txBody>
          <a:bodyPr wrap="square" lIns="45720" tIns="18288" rIns="45720" bIns="18288" anchor="t">
            <a:spAutoFit/>
          </a:bodyPr>
          <a:lstStyle/>
          <a:p>
            <a:pPr algn="l">
              <a:spcBef>
                <a:spcPts val="0"/>
              </a:spcBef>
              <a:spcAft>
                <a:spcPts val="100"/>
              </a:spcAft>
            </a:pPr>
            <a:r>
              <a:rPr sz="1350" b="1" i="0">
                <a:solidFill>
                  <a:srgbClr val="76E3F1"/>
                </a:solidFill>
                <a:latin typeface="Trebuchet MS"/>
              </a:rPr>
              <a:t>Caddy</a:t>
            </a:r>
          </a:p>
          <a:p>
            <a:pPr algn="l">
              <a:spcBef>
                <a:spcPts val="0"/>
              </a:spcBef>
              <a:spcAft>
                <a:spcPts val="0"/>
              </a:spcAft>
            </a:pPr>
            <a:r>
              <a:rPr sz="1100" b="0" i="0">
                <a:solidFill>
                  <a:srgbClr val="B9AFD6"/>
                </a:solidFill>
                <a:latin typeface="Trebuchet MS"/>
              </a:rPr>
              <a:t>Reverse-Proxy &amp; HTTPS</a:t>
            </a:r>
          </a:p>
        </p:txBody>
      </p:sp>
      <p:sp>
        <p:nvSpPr>
          <p:cNvPr id="29" name="TextBox 28"/>
          <p:cNvSpPr txBox="1"/>
          <p:nvPr/>
        </p:nvSpPr>
        <p:spPr>
          <a:xfrm>
            <a:off x="8330184" y="5166360"/>
            <a:ext cx="2880360" cy="914400"/>
          </a:xfrm>
          <a:prstGeom prst="rect">
            <a:avLst/>
          </a:prstGeom>
          <a:noFill/>
        </p:spPr>
        <p:txBody>
          <a:bodyPr wrap="square" lIns="45720" tIns="18288" rIns="45720" bIns="18288" anchor="t">
            <a:spAutoFit/>
          </a:bodyPr>
          <a:lstStyle/>
          <a:p>
            <a:pPr algn="l">
              <a:spcBef>
                <a:spcPts val="0"/>
              </a:spcBef>
              <a:spcAft>
                <a:spcPts val="100"/>
              </a:spcAft>
            </a:pPr>
            <a:r>
              <a:rPr sz="1350" b="1" i="0">
                <a:solidFill>
                  <a:srgbClr val="76E3F1"/>
                </a:solidFill>
                <a:latin typeface="Trebuchet MS"/>
              </a:rPr>
              <a:t>Auth, MFA &amp; CSRF</a:t>
            </a:r>
          </a:p>
          <a:p>
            <a:pPr algn="l">
              <a:spcBef>
                <a:spcPts val="0"/>
              </a:spcBef>
              <a:spcAft>
                <a:spcPts val="0"/>
              </a:spcAft>
            </a:pPr>
            <a:r>
              <a:rPr sz="1100" b="0" i="0">
                <a:solidFill>
                  <a:srgbClr val="B9AFD6"/>
                </a:solidFill>
                <a:latin typeface="Trebuchet MS"/>
              </a:rPr>
              <a:t>Sicherheit auf API-Ebene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WIE ALLES ZUSAMMENSPIELT</a:t>
            </a:r>
          </a:p>
          <a:p>
            <a:pPr algn="l">
              <a:spcBef>
                <a:spcPts val="0"/>
              </a:spcBef>
              <a:spcAft>
                <a:spcPts val="0"/>
              </a:spcAft>
            </a:pPr>
            <a:r>
              <a:rPr sz="3200" b="1" i="0">
                <a:solidFill>
                  <a:srgbClr val="F1EDE6"/>
                </a:solidFill>
                <a:latin typeface="Trebuchet MS"/>
              </a:rPr>
              <a:t>Architektur</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14</a:t>
            </a:r>
          </a:p>
        </p:txBody>
      </p:sp>
      <p:sp>
        <p:nvSpPr>
          <p:cNvPr id="25" name="TextBox 24"/>
          <p:cNvSpPr txBox="1"/>
          <p:nvPr/>
        </p:nvSpPr>
        <p:spPr>
          <a:xfrm>
            <a:off x="868680" y="5440680"/>
            <a:ext cx="10424160" cy="731520"/>
          </a:xfrm>
          <a:prstGeom prst="rect">
            <a:avLst/>
          </a:prstGeom>
          <a:noFill/>
        </p:spPr>
        <p:txBody>
          <a:bodyPr wrap="square" lIns="45720" tIns="18288" rIns="45720" bIns="18288" anchor="t">
            <a:spAutoFit/>
          </a:bodyPr>
          <a:lstStyle/>
          <a:p>
            <a:pPr algn="l">
              <a:spcBef>
                <a:spcPts val="0"/>
              </a:spcBef>
              <a:spcAft>
                <a:spcPts val="0"/>
              </a:spcAft>
            </a:pPr>
            <a:r>
              <a:rPr sz="1350" b="1" i="0">
                <a:solidFill>
                  <a:srgbClr val="FFA228"/>
                </a:solidFill>
                <a:latin typeface="Trebuchet MS"/>
              </a:rPr>
              <a:t>Echtzeit:  </a:t>
            </a:r>
            <a:r>
              <a:rPr sz="1350" b="0" i="0">
                <a:solidFill>
                  <a:srgbClr val="F1EDE6"/>
                </a:solidFill>
                <a:latin typeface="Trebuchet MS"/>
              </a:rPr>
              <a:t>Parallel zu den REST-Aufrufen hält der SignalR-Client eine Dauerverbindung zu den Hubs - darüber kommen Live-Updates zurück ins Frontend.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SOLIDE GEBAUT</a:t>
            </a:r>
          </a:p>
          <a:p>
            <a:pPr algn="l">
              <a:spcBef>
                <a:spcPts val="0"/>
              </a:spcBef>
              <a:spcAft>
                <a:spcPts val="0"/>
              </a:spcAft>
            </a:pPr>
            <a:r>
              <a:rPr sz="3200" b="1" i="0">
                <a:solidFill>
                  <a:srgbClr val="F1EDE6"/>
                </a:solidFill>
                <a:latin typeface="Trebuchet MS"/>
              </a:rPr>
              <a:t>Sicherheit &amp; Qualität</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15</a:t>
            </a:r>
          </a:p>
        </p:txBody>
      </p:sp>
      <p:sp>
        <p:nvSpPr>
          <p:cNvPr id="9" name="Rounded Rectangle 8"/>
          <p:cNvSpPr/>
          <p:nvPr/>
        </p:nvSpPr>
        <p:spPr>
          <a:xfrm>
            <a:off x="868680" y="1691640"/>
            <a:ext cx="5074920" cy="123444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24712" y="1947672"/>
            <a:ext cx="82296" cy="713232"/>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17320" y="1874520"/>
            <a:ext cx="4343400" cy="914400"/>
          </a:xfrm>
          <a:prstGeom prst="rect">
            <a:avLst/>
          </a:prstGeom>
          <a:noFill/>
        </p:spPr>
        <p:txBody>
          <a:bodyPr wrap="square" lIns="45720" tIns="18288" rIns="45720" bIns="18288" anchor="t">
            <a:spAutoFit/>
          </a:bodyPr>
          <a:lstStyle/>
          <a:p>
            <a:pPr algn="l">
              <a:spcBef>
                <a:spcPts val="0"/>
              </a:spcBef>
              <a:spcAft>
                <a:spcPts val="300"/>
              </a:spcAft>
            </a:pPr>
            <a:r>
              <a:rPr sz="1550" b="1" i="0" dirty="0" err="1">
                <a:solidFill>
                  <a:srgbClr val="F1EDE6"/>
                </a:solidFill>
                <a:latin typeface="Trebuchet MS"/>
              </a:rPr>
              <a:t>Authentifizierung</a:t>
            </a:r>
            <a:endParaRPr sz="1550" b="1" i="0" dirty="0">
              <a:solidFill>
                <a:srgbClr val="F1EDE6"/>
              </a:solidFill>
              <a:latin typeface="Trebuchet MS"/>
            </a:endParaRPr>
          </a:p>
          <a:p>
            <a:pPr algn="l">
              <a:spcBef>
                <a:spcPts val="0"/>
              </a:spcBef>
              <a:spcAft>
                <a:spcPts val="0"/>
              </a:spcAft>
            </a:pPr>
            <a:r>
              <a:rPr sz="1200" b="0" i="0" dirty="0">
                <a:solidFill>
                  <a:srgbClr val="B9AFD6"/>
                </a:solidFill>
                <a:latin typeface="Trebuchet MS"/>
              </a:rPr>
              <a:t>Login/</a:t>
            </a:r>
            <a:r>
              <a:rPr sz="1200" b="0" i="0" dirty="0" err="1">
                <a:solidFill>
                  <a:srgbClr val="B9AFD6"/>
                </a:solidFill>
                <a:latin typeface="Trebuchet MS"/>
              </a:rPr>
              <a:t>Registrierung</a:t>
            </a:r>
            <a:r>
              <a:rPr sz="1200" b="0" i="0" dirty="0">
                <a:solidFill>
                  <a:srgbClr val="B9AFD6"/>
                </a:solidFill>
                <a:latin typeface="Trebuchet MS"/>
              </a:rPr>
              <a:t> </a:t>
            </a:r>
            <a:r>
              <a:rPr sz="1200" b="0" i="0" dirty="0" err="1">
                <a:solidFill>
                  <a:srgbClr val="B9AFD6"/>
                </a:solidFill>
                <a:latin typeface="Trebuchet MS"/>
              </a:rPr>
              <a:t>mit</a:t>
            </a:r>
            <a:r>
              <a:rPr sz="1200" b="0" i="0" dirty="0">
                <a:solidFill>
                  <a:srgbClr val="B9AFD6"/>
                </a:solidFill>
                <a:latin typeface="Trebuchet MS"/>
              </a:rPr>
              <a:t> Mehr-Faktor-</a:t>
            </a:r>
            <a:r>
              <a:rPr sz="1200" b="0" i="0" dirty="0" err="1">
                <a:solidFill>
                  <a:srgbClr val="B9AFD6"/>
                </a:solidFill>
                <a:latin typeface="Trebuchet MS"/>
              </a:rPr>
              <a:t>Authentifizierung</a:t>
            </a:r>
            <a:r>
              <a:rPr sz="1200" b="0" i="0" dirty="0">
                <a:solidFill>
                  <a:srgbClr val="B9AFD6"/>
                </a:solidFill>
                <a:latin typeface="Trebuchet MS"/>
              </a:rPr>
              <a:t> (MFA).</a:t>
            </a:r>
          </a:p>
        </p:txBody>
      </p:sp>
      <p:sp>
        <p:nvSpPr>
          <p:cNvPr id="12" name="Rounded Rectangle 11"/>
          <p:cNvSpPr/>
          <p:nvPr/>
        </p:nvSpPr>
        <p:spPr>
          <a:xfrm>
            <a:off x="6217920" y="1691640"/>
            <a:ext cx="5074920" cy="123444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473952" y="1947672"/>
            <a:ext cx="82296" cy="713232"/>
          </a:xfrm>
          <a:prstGeom prst="roundRect">
            <a:avLst>
              <a:gd name="adj" fmla="val 50000"/>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66560" y="1874520"/>
            <a:ext cx="4343400" cy="914400"/>
          </a:xfrm>
          <a:prstGeom prst="rect">
            <a:avLst/>
          </a:prstGeom>
          <a:noFill/>
        </p:spPr>
        <p:txBody>
          <a:bodyPr wrap="square" lIns="45720" tIns="18288" rIns="45720" bIns="18288" anchor="t">
            <a:spAutoFit/>
          </a:bodyPr>
          <a:lstStyle/>
          <a:p>
            <a:pPr algn="l">
              <a:spcBef>
                <a:spcPts val="0"/>
              </a:spcBef>
              <a:spcAft>
                <a:spcPts val="300"/>
              </a:spcAft>
            </a:pPr>
            <a:r>
              <a:rPr sz="1550" b="1" i="0">
                <a:solidFill>
                  <a:srgbClr val="F1EDE6"/>
                </a:solidFill>
                <a:latin typeface="Trebuchet MS"/>
              </a:rPr>
              <a:t>CSRF-Schutz</a:t>
            </a:r>
          </a:p>
          <a:p>
            <a:pPr algn="l">
              <a:spcBef>
                <a:spcPts val="0"/>
              </a:spcBef>
              <a:spcAft>
                <a:spcPts val="0"/>
              </a:spcAft>
            </a:pPr>
            <a:r>
              <a:rPr sz="1200" b="0" i="0">
                <a:solidFill>
                  <a:srgbClr val="B9AFD6"/>
                </a:solidFill>
                <a:latin typeface="Trebuchet MS"/>
              </a:rPr>
              <a:t>Eigene Middleware sichert die API gegen Cross-Site-Request-Forgery.</a:t>
            </a:r>
          </a:p>
        </p:txBody>
      </p:sp>
      <p:sp>
        <p:nvSpPr>
          <p:cNvPr id="15" name="Rounded Rectangle 14"/>
          <p:cNvSpPr/>
          <p:nvPr/>
        </p:nvSpPr>
        <p:spPr>
          <a:xfrm>
            <a:off x="868680" y="3154680"/>
            <a:ext cx="5074920" cy="123444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124712" y="3410712"/>
            <a:ext cx="82296" cy="713232"/>
          </a:xfrm>
          <a:prstGeom prst="roundRect">
            <a:avLst>
              <a:gd name="adj" fmla="val 50000"/>
            </a:avLst>
          </a:prstGeom>
          <a:solidFill>
            <a:srgbClr val="856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17320" y="3337560"/>
            <a:ext cx="4343400" cy="683264"/>
          </a:xfrm>
          <a:prstGeom prst="rect">
            <a:avLst/>
          </a:prstGeom>
          <a:noFill/>
        </p:spPr>
        <p:txBody>
          <a:bodyPr wrap="square" lIns="45720" tIns="18288" rIns="45720" bIns="18288" anchor="t">
            <a:spAutoFit/>
          </a:bodyPr>
          <a:lstStyle/>
          <a:p>
            <a:pPr algn="l">
              <a:spcBef>
                <a:spcPts val="0"/>
              </a:spcBef>
              <a:spcAft>
                <a:spcPts val="300"/>
              </a:spcAft>
            </a:pPr>
            <a:r>
              <a:rPr sz="1550" b="1" i="0" dirty="0" err="1">
                <a:solidFill>
                  <a:srgbClr val="F1EDE6"/>
                </a:solidFill>
                <a:latin typeface="Trebuchet MS"/>
              </a:rPr>
              <a:t>Sichere</a:t>
            </a:r>
            <a:r>
              <a:rPr sz="1550" b="1" i="0" dirty="0">
                <a:solidFill>
                  <a:srgbClr val="F1EDE6"/>
                </a:solidFill>
                <a:latin typeface="Trebuchet MS"/>
              </a:rPr>
              <a:t> API</a:t>
            </a:r>
          </a:p>
          <a:p>
            <a:pPr algn="l">
              <a:spcBef>
                <a:spcPts val="0"/>
              </a:spcBef>
              <a:spcAft>
                <a:spcPts val="0"/>
              </a:spcAft>
            </a:pPr>
            <a:r>
              <a:rPr sz="1200" b="0" i="0" dirty="0">
                <a:solidFill>
                  <a:srgbClr val="B9AFD6"/>
                </a:solidFill>
                <a:latin typeface="Trebuchet MS"/>
              </a:rPr>
              <a:t>Gesch</a:t>
            </a:r>
            <a:r>
              <a:rPr lang="de-AT" sz="1200" b="0" i="0" dirty="0">
                <a:solidFill>
                  <a:srgbClr val="B9AFD6"/>
                </a:solidFill>
                <a:latin typeface="Trebuchet MS"/>
              </a:rPr>
              <a:t>ü</a:t>
            </a:r>
            <a:r>
              <a:rPr sz="1200" b="0" i="0" dirty="0" err="1">
                <a:solidFill>
                  <a:srgbClr val="B9AFD6"/>
                </a:solidFill>
                <a:latin typeface="Trebuchet MS"/>
              </a:rPr>
              <a:t>tzte</a:t>
            </a:r>
            <a:r>
              <a:rPr sz="1200" b="0" i="0" dirty="0">
                <a:solidFill>
                  <a:srgbClr val="B9AFD6"/>
                </a:solidFill>
                <a:latin typeface="Trebuchet MS"/>
              </a:rPr>
              <a:t> </a:t>
            </a:r>
            <a:r>
              <a:rPr sz="1200" b="0" i="0" dirty="0" err="1">
                <a:solidFill>
                  <a:srgbClr val="B9AFD6"/>
                </a:solidFill>
                <a:latin typeface="Trebuchet MS"/>
              </a:rPr>
              <a:t>Endpunkte</a:t>
            </a:r>
            <a:r>
              <a:rPr sz="1200" b="0" i="0" dirty="0">
                <a:solidFill>
                  <a:srgbClr val="B9AFD6"/>
                </a:solidFill>
                <a:latin typeface="Trebuchet MS"/>
              </a:rPr>
              <a:t>, </a:t>
            </a:r>
            <a:r>
              <a:rPr sz="1200" b="0" i="0" dirty="0" err="1">
                <a:solidFill>
                  <a:srgbClr val="B9AFD6"/>
                </a:solidFill>
                <a:latin typeface="Trebuchet MS"/>
              </a:rPr>
              <a:t>getrennte</a:t>
            </a:r>
            <a:r>
              <a:rPr sz="1200" b="0" i="0" dirty="0">
                <a:solidFill>
                  <a:srgbClr val="B9AFD6"/>
                </a:solidFill>
                <a:latin typeface="Trebuchet MS"/>
              </a:rPr>
              <a:t> DTOs </a:t>
            </a:r>
            <a:r>
              <a:rPr sz="1200" b="0" i="0" dirty="0" err="1">
                <a:solidFill>
                  <a:srgbClr val="B9AFD6"/>
                </a:solidFill>
                <a:latin typeface="Trebuchet MS"/>
              </a:rPr>
              <a:t>statt</a:t>
            </a:r>
            <a:r>
              <a:rPr sz="1200" b="0" i="0" dirty="0">
                <a:solidFill>
                  <a:srgbClr val="B9AFD6"/>
                </a:solidFill>
                <a:latin typeface="Trebuchet MS"/>
              </a:rPr>
              <a:t> </a:t>
            </a:r>
            <a:r>
              <a:rPr sz="1200" b="0" i="0" dirty="0" err="1">
                <a:solidFill>
                  <a:srgbClr val="B9AFD6"/>
                </a:solidFill>
                <a:latin typeface="Trebuchet MS"/>
              </a:rPr>
              <a:t>direkter</a:t>
            </a:r>
            <a:r>
              <a:rPr sz="1200" b="0" i="0" dirty="0">
                <a:solidFill>
                  <a:srgbClr val="B9AFD6"/>
                </a:solidFill>
                <a:latin typeface="Trebuchet MS"/>
              </a:rPr>
              <a:t> DB-Modelle.</a:t>
            </a:r>
          </a:p>
        </p:txBody>
      </p:sp>
      <p:sp>
        <p:nvSpPr>
          <p:cNvPr id="18" name="Rounded Rectangle 17"/>
          <p:cNvSpPr/>
          <p:nvPr/>
        </p:nvSpPr>
        <p:spPr>
          <a:xfrm>
            <a:off x="6217920" y="3154680"/>
            <a:ext cx="5074920" cy="123444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473952" y="3410712"/>
            <a:ext cx="82296" cy="713232"/>
          </a:xfrm>
          <a:prstGeom prst="roundRect">
            <a:avLst>
              <a:gd name="adj" fmla="val 50000"/>
            </a:avLst>
          </a:prstGeom>
          <a:solidFill>
            <a:srgbClr val="76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66560" y="3337560"/>
            <a:ext cx="4343400" cy="914400"/>
          </a:xfrm>
          <a:prstGeom prst="rect">
            <a:avLst/>
          </a:prstGeom>
          <a:noFill/>
        </p:spPr>
        <p:txBody>
          <a:bodyPr wrap="square" lIns="45720" tIns="18288" rIns="45720" bIns="18288" anchor="t">
            <a:spAutoFit/>
          </a:bodyPr>
          <a:lstStyle/>
          <a:p>
            <a:pPr algn="l">
              <a:spcBef>
                <a:spcPts val="0"/>
              </a:spcBef>
              <a:spcAft>
                <a:spcPts val="300"/>
              </a:spcAft>
            </a:pPr>
            <a:r>
              <a:rPr sz="1550" b="1" i="0" dirty="0">
                <a:solidFill>
                  <a:srgbClr val="F1EDE6"/>
                </a:solidFill>
                <a:latin typeface="Trebuchet MS"/>
              </a:rPr>
              <a:t>Optimistic UI</a:t>
            </a:r>
          </a:p>
          <a:p>
            <a:pPr algn="l">
              <a:spcBef>
                <a:spcPts val="0"/>
              </a:spcBef>
              <a:spcAft>
                <a:spcPts val="0"/>
              </a:spcAft>
            </a:pPr>
            <a:r>
              <a:rPr sz="1200" b="0" i="0" dirty="0" err="1">
                <a:solidFill>
                  <a:srgbClr val="B9AFD6"/>
                </a:solidFill>
                <a:latin typeface="Trebuchet MS"/>
              </a:rPr>
              <a:t>Schnelles</a:t>
            </a:r>
            <a:r>
              <a:rPr sz="1200" b="0" i="0" dirty="0">
                <a:solidFill>
                  <a:srgbClr val="B9AFD6"/>
                </a:solidFill>
                <a:latin typeface="Trebuchet MS"/>
              </a:rPr>
              <a:t> </a:t>
            </a:r>
            <a:r>
              <a:rPr sz="1200" b="0" i="0" dirty="0" err="1">
                <a:solidFill>
                  <a:srgbClr val="B9AFD6"/>
                </a:solidFill>
                <a:latin typeface="Trebuchet MS"/>
              </a:rPr>
              <a:t>Gefühl</a:t>
            </a:r>
            <a:r>
              <a:rPr sz="1200" b="0" i="0" dirty="0">
                <a:solidFill>
                  <a:srgbClr val="B9AFD6"/>
                </a:solidFill>
                <a:latin typeface="Trebuchet MS"/>
              </a:rPr>
              <a:t> - </a:t>
            </a:r>
            <a:r>
              <a:rPr sz="1200" b="0" i="0" dirty="0" err="1">
                <a:solidFill>
                  <a:srgbClr val="B9AFD6"/>
                </a:solidFill>
                <a:latin typeface="Trebuchet MS"/>
              </a:rPr>
              <a:t>bei</a:t>
            </a:r>
            <a:r>
              <a:rPr sz="1200" b="0" i="0" dirty="0">
                <a:solidFill>
                  <a:srgbClr val="B9AFD6"/>
                </a:solidFill>
                <a:latin typeface="Trebuchet MS"/>
              </a:rPr>
              <a:t> </a:t>
            </a:r>
            <a:r>
              <a:rPr sz="1200" b="0" i="0" dirty="0" err="1">
                <a:solidFill>
                  <a:srgbClr val="B9AFD6"/>
                </a:solidFill>
                <a:latin typeface="Trebuchet MS"/>
              </a:rPr>
              <a:t>Fehlern</a:t>
            </a:r>
            <a:r>
              <a:rPr sz="1200" b="0" i="0" dirty="0">
                <a:solidFill>
                  <a:srgbClr val="B9AFD6"/>
                </a:solidFill>
                <a:latin typeface="Trebuchet MS"/>
              </a:rPr>
              <a:t> </a:t>
            </a:r>
            <a:r>
              <a:rPr sz="1200" b="0" i="0" dirty="0" err="1">
                <a:solidFill>
                  <a:srgbClr val="B9AFD6"/>
                </a:solidFill>
                <a:latin typeface="Trebuchet MS"/>
              </a:rPr>
              <a:t>wird</a:t>
            </a:r>
            <a:r>
              <a:rPr sz="1200" b="0" i="0" dirty="0">
                <a:solidFill>
                  <a:srgbClr val="B9AFD6"/>
                </a:solidFill>
                <a:latin typeface="Trebuchet MS"/>
              </a:rPr>
              <a:t> </a:t>
            </a:r>
            <a:r>
              <a:rPr sz="1200" b="0" i="0" dirty="0" err="1">
                <a:solidFill>
                  <a:srgbClr val="B9AFD6"/>
                </a:solidFill>
                <a:latin typeface="Trebuchet MS"/>
              </a:rPr>
              <a:t>sauber</a:t>
            </a:r>
            <a:r>
              <a:rPr sz="1200" b="0" i="0" dirty="0">
                <a:solidFill>
                  <a:srgbClr val="B9AFD6"/>
                </a:solidFill>
                <a:latin typeface="Trebuchet MS"/>
              </a:rPr>
              <a:t> </a:t>
            </a:r>
            <a:r>
              <a:rPr sz="1200" b="0" i="0" dirty="0" err="1">
                <a:solidFill>
                  <a:srgbClr val="B9AFD6"/>
                </a:solidFill>
                <a:latin typeface="Trebuchet MS"/>
              </a:rPr>
              <a:t>zurückgerollt</a:t>
            </a:r>
            <a:r>
              <a:rPr sz="1200" b="0" i="0" dirty="0">
                <a:solidFill>
                  <a:srgbClr val="B9AFD6"/>
                </a:solidFill>
                <a:latin typeface="Trebuchet MS"/>
              </a:rPr>
              <a:t>.</a:t>
            </a:r>
          </a:p>
        </p:txBody>
      </p:sp>
      <p:sp>
        <p:nvSpPr>
          <p:cNvPr id="21" name="Rounded Rectangle 20"/>
          <p:cNvSpPr/>
          <p:nvPr/>
        </p:nvSpPr>
        <p:spPr>
          <a:xfrm>
            <a:off x="868680" y="4617720"/>
            <a:ext cx="5074920" cy="123444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124712" y="4873752"/>
            <a:ext cx="82296" cy="713232"/>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17320" y="4800600"/>
            <a:ext cx="4343400" cy="914400"/>
          </a:xfrm>
          <a:prstGeom prst="rect">
            <a:avLst/>
          </a:prstGeom>
          <a:noFill/>
        </p:spPr>
        <p:txBody>
          <a:bodyPr wrap="square" lIns="45720" tIns="18288" rIns="45720" bIns="18288" anchor="t">
            <a:spAutoFit/>
          </a:bodyPr>
          <a:lstStyle/>
          <a:p>
            <a:pPr algn="l">
              <a:spcBef>
                <a:spcPts val="0"/>
              </a:spcBef>
              <a:spcAft>
                <a:spcPts val="300"/>
              </a:spcAft>
            </a:pPr>
            <a:r>
              <a:rPr sz="1550" b="1" i="0">
                <a:solidFill>
                  <a:srgbClr val="F1EDE6"/>
                </a:solidFill>
                <a:latin typeface="Trebuchet MS"/>
              </a:rPr>
              <a:t>Code-Qualität</a:t>
            </a:r>
          </a:p>
          <a:p>
            <a:pPr algn="l">
              <a:spcBef>
                <a:spcPts val="0"/>
              </a:spcBef>
              <a:spcAft>
                <a:spcPts val="0"/>
              </a:spcAft>
            </a:pPr>
            <a:r>
              <a:rPr sz="1200" b="0" i="0">
                <a:solidFill>
                  <a:srgbClr val="B9AFD6"/>
                </a:solidFill>
                <a:latin typeface="Trebuchet MS"/>
              </a:rPr>
              <a:t>Objektorientiert, lesbar, dokumentierter Komponentenbaum.</a:t>
            </a:r>
          </a:p>
        </p:txBody>
      </p:sp>
      <p:sp>
        <p:nvSpPr>
          <p:cNvPr id="24" name="Rounded Rectangle 23"/>
          <p:cNvSpPr/>
          <p:nvPr/>
        </p:nvSpPr>
        <p:spPr>
          <a:xfrm>
            <a:off x="6217920" y="4617720"/>
            <a:ext cx="5074920" cy="123444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473952" y="4873752"/>
            <a:ext cx="82296" cy="713232"/>
          </a:xfrm>
          <a:prstGeom prst="roundRect">
            <a:avLst>
              <a:gd name="adj" fmla="val 50000"/>
            </a:avLst>
          </a:prstGeom>
          <a:solidFill>
            <a:srgbClr val="008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66560" y="4800600"/>
            <a:ext cx="4343400" cy="914400"/>
          </a:xfrm>
          <a:prstGeom prst="rect">
            <a:avLst/>
          </a:prstGeom>
          <a:noFill/>
        </p:spPr>
        <p:txBody>
          <a:bodyPr wrap="square" lIns="45720" tIns="18288" rIns="45720" bIns="18288" anchor="t">
            <a:spAutoFit/>
          </a:bodyPr>
          <a:lstStyle/>
          <a:p>
            <a:pPr algn="l">
              <a:spcBef>
                <a:spcPts val="0"/>
              </a:spcBef>
              <a:spcAft>
                <a:spcPts val="300"/>
              </a:spcAft>
            </a:pPr>
            <a:r>
              <a:rPr sz="1550" b="1" i="0">
                <a:solidFill>
                  <a:srgbClr val="F1EDE6"/>
                </a:solidFill>
                <a:latin typeface="Trebuchet MS"/>
              </a:rPr>
              <a:t>Tests</a:t>
            </a:r>
          </a:p>
          <a:p>
            <a:pPr algn="l">
              <a:spcBef>
                <a:spcPts val="0"/>
              </a:spcBef>
              <a:spcAft>
                <a:spcPts val="0"/>
              </a:spcAft>
            </a:pPr>
            <a:r>
              <a:rPr sz="1200" b="0" i="0">
                <a:solidFill>
                  <a:srgbClr val="B9AFD6"/>
                </a:solidFill>
                <a:latin typeface="Trebuchet MS"/>
              </a:rPr>
              <a:t>Eigenes Testprojekt (xUnit) zur Absicherung der Logik.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PLANUNG &amp; DOKUMENTATION</a:t>
            </a:r>
          </a:p>
          <a:p>
            <a:pPr algn="l">
              <a:spcBef>
                <a:spcPts val="0"/>
              </a:spcBef>
              <a:spcAft>
                <a:spcPts val="0"/>
              </a:spcAft>
            </a:pPr>
            <a:r>
              <a:rPr sz="3200" b="1" i="0">
                <a:solidFill>
                  <a:srgbClr val="F1EDE6"/>
                </a:solidFill>
                <a:latin typeface="Trebuchet MS"/>
              </a:rPr>
              <a:t>Projektablauf</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16</a:t>
            </a:r>
          </a:p>
        </p:txBody>
      </p:sp>
      <p:sp>
        <p:nvSpPr>
          <p:cNvPr id="9" name="TextBox 8"/>
          <p:cNvSpPr txBox="1"/>
          <p:nvPr/>
        </p:nvSpPr>
        <p:spPr>
          <a:xfrm>
            <a:off x="868680" y="1417320"/>
            <a:ext cx="10424160" cy="640080"/>
          </a:xfrm>
          <a:prstGeom prst="rect">
            <a:avLst/>
          </a:prstGeom>
          <a:noFill/>
        </p:spPr>
        <p:txBody>
          <a:bodyPr wrap="square" lIns="45720" tIns="18288" rIns="45720" bIns="18288" anchor="t">
            <a:spAutoFit/>
          </a:bodyPr>
          <a:lstStyle/>
          <a:p>
            <a:pPr algn="l">
              <a:spcBef>
                <a:spcPts val="0"/>
              </a:spcBef>
              <a:spcAft>
                <a:spcPts val="0"/>
              </a:spcAft>
            </a:pPr>
            <a:r>
              <a:rPr sz="1550" b="0" i="0">
                <a:solidFill>
                  <a:srgbClr val="F1EDE6"/>
                </a:solidFill>
                <a:latin typeface="Trebuchet MS"/>
              </a:rPr>
              <a:t>Lumify wurde nach klassischem Projektmanagement durchgeführt - mit vollständiger Dokumentation:</a:t>
            </a:r>
          </a:p>
        </p:txBody>
      </p:sp>
      <p:sp>
        <p:nvSpPr>
          <p:cNvPr id="10" name="Rounded Rectangle 9"/>
          <p:cNvSpPr/>
          <p:nvPr/>
        </p:nvSpPr>
        <p:spPr>
          <a:xfrm>
            <a:off x="868680" y="2194560"/>
            <a:ext cx="3291840" cy="640080"/>
          </a:xfrm>
          <a:prstGeom prst="roundRect">
            <a:avLst>
              <a:gd name="adj" fmla="val 50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400" b="1">
                <a:solidFill>
                  <a:srgbClr val="F1EDE6"/>
                </a:solidFill>
                <a:latin typeface="Trebuchet MS"/>
              </a:rPr>
              <a:t>Projektauftrag</a:t>
            </a:r>
          </a:p>
        </p:txBody>
      </p:sp>
      <p:sp>
        <p:nvSpPr>
          <p:cNvPr id="11" name="Rounded Rectangle 10"/>
          <p:cNvSpPr/>
          <p:nvPr/>
        </p:nvSpPr>
        <p:spPr>
          <a:xfrm>
            <a:off x="4462272" y="2194560"/>
            <a:ext cx="3291840" cy="640080"/>
          </a:xfrm>
          <a:prstGeom prst="roundRect">
            <a:avLst>
              <a:gd name="adj" fmla="val 50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400" b="1">
                <a:solidFill>
                  <a:srgbClr val="F1EDE6"/>
                </a:solidFill>
                <a:latin typeface="Trebuchet MS"/>
              </a:rPr>
              <a:t>Lastenheft</a:t>
            </a:r>
          </a:p>
        </p:txBody>
      </p:sp>
      <p:sp>
        <p:nvSpPr>
          <p:cNvPr id="12" name="Rounded Rectangle 11"/>
          <p:cNvSpPr/>
          <p:nvPr/>
        </p:nvSpPr>
        <p:spPr>
          <a:xfrm>
            <a:off x="8055864" y="2194560"/>
            <a:ext cx="3291840" cy="640080"/>
          </a:xfrm>
          <a:prstGeom prst="roundRect">
            <a:avLst>
              <a:gd name="adj" fmla="val 50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400" b="1">
                <a:solidFill>
                  <a:srgbClr val="F1EDE6"/>
                </a:solidFill>
                <a:latin typeface="Trebuchet MS"/>
              </a:rPr>
              <a:t>Pflichtenheft</a:t>
            </a:r>
          </a:p>
        </p:txBody>
      </p:sp>
      <p:sp>
        <p:nvSpPr>
          <p:cNvPr id="13" name="Rounded Rectangle 12"/>
          <p:cNvSpPr/>
          <p:nvPr/>
        </p:nvSpPr>
        <p:spPr>
          <a:xfrm>
            <a:off x="868680" y="3063240"/>
            <a:ext cx="3291840" cy="640080"/>
          </a:xfrm>
          <a:prstGeom prst="roundRect">
            <a:avLst>
              <a:gd name="adj" fmla="val 50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400" b="1">
                <a:solidFill>
                  <a:srgbClr val="F1EDE6"/>
                </a:solidFill>
                <a:latin typeface="Trebuchet MS"/>
              </a:rPr>
              <a:t>Projekthandbuch</a:t>
            </a:r>
          </a:p>
        </p:txBody>
      </p:sp>
      <p:sp>
        <p:nvSpPr>
          <p:cNvPr id="14" name="Rounded Rectangle 13"/>
          <p:cNvSpPr/>
          <p:nvPr/>
        </p:nvSpPr>
        <p:spPr>
          <a:xfrm>
            <a:off x="4462272" y="3063240"/>
            <a:ext cx="3291840" cy="640080"/>
          </a:xfrm>
          <a:prstGeom prst="roundRect">
            <a:avLst>
              <a:gd name="adj" fmla="val 50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400" b="1">
                <a:solidFill>
                  <a:srgbClr val="F1EDE6"/>
                </a:solidFill>
                <a:latin typeface="Trebuchet MS"/>
              </a:rPr>
              <a:t>Benutzerhandbuch</a:t>
            </a:r>
          </a:p>
        </p:txBody>
      </p:sp>
      <p:sp>
        <p:nvSpPr>
          <p:cNvPr id="15" name="Rounded Rectangle 14"/>
          <p:cNvSpPr/>
          <p:nvPr/>
        </p:nvSpPr>
        <p:spPr>
          <a:xfrm>
            <a:off x="8055864" y="3063240"/>
            <a:ext cx="3291840" cy="640080"/>
          </a:xfrm>
          <a:prstGeom prst="roundRect">
            <a:avLst>
              <a:gd name="adj" fmla="val 50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400" b="1">
                <a:solidFill>
                  <a:srgbClr val="F1EDE6"/>
                </a:solidFill>
                <a:latin typeface="Trebuchet MS"/>
              </a:rPr>
              <a:t>Statusberichte</a:t>
            </a:r>
          </a:p>
        </p:txBody>
      </p:sp>
      <p:sp>
        <p:nvSpPr>
          <p:cNvPr id="16" name="TextBox 15"/>
          <p:cNvSpPr txBox="1"/>
          <p:nvPr/>
        </p:nvSpPr>
        <p:spPr>
          <a:xfrm>
            <a:off x="868680" y="4114800"/>
            <a:ext cx="10424160" cy="457200"/>
          </a:xfrm>
          <a:prstGeom prst="rect">
            <a:avLst/>
          </a:prstGeom>
          <a:noFill/>
        </p:spPr>
        <p:txBody>
          <a:bodyPr wrap="square" lIns="45720" tIns="18288" rIns="45720" bIns="18288" anchor="t">
            <a:spAutoFit/>
          </a:bodyPr>
          <a:lstStyle/>
          <a:p>
            <a:pPr algn="l">
              <a:spcBef>
                <a:spcPts val="0"/>
              </a:spcBef>
              <a:spcAft>
                <a:spcPts val="0"/>
              </a:spcAft>
            </a:pPr>
            <a:r>
              <a:rPr sz="1600" b="1" i="0">
                <a:solidFill>
                  <a:srgbClr val="76E3F1"/>
                </a:solidFill>
                <a:latin typeface="Trebuchet MS"/>
              </a:rPr>
              <a:t>Zeitlicher Rahmen</a:t>
            </a:r>
          </a:p>
        </p:txBody>
      </p:sp>
      <p:sp>
        <p:nvSpPr>
          <p:cNvPr id="17" name="Rectangle 16"/>
          <p:cNvSpPr/>
          <p:nvPr/>
        </p:nvSpPr>
        <p:spPr>
          <a:xfrm>
            <a:off x="1097280" y="5074920"/>
            <a:ext cx="9966960" cy="38100"/>
          </a:xfrm>
          <a:prstGeom prst="rect">
            <a:avLst/>
          </a:prstGeom>
          <a:solidFill>
            <a:srgbClr val="7157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78408" y="4937760"/>
            <a:ext cx="292608" cy="292608"/>
          </a:xfrm>
          <a:prstGeom prst="ellipse">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5349240"/>
            <a:ext cx="1737360" cy="565283"/>
          </a:xfrm>
          <a:prstGeom prst="rect">
            <a:avLst/>
          </a:prstGeom>
          <a:noFill/>
        </p:spPr>
        <p:txBody>
          <a:bodyPr wrap="square" lIns="45720" tIns="18288" rIns="45720" bIns="18288" anchor="t">
            <a:spAutoFit/>
          </a:bodyPr>
          <a:lstStyle/>
          <a:p>
            <a:pPr algn="ctr">
              <a:spcBef>
                <a:spcPts val="0"/>
              </a:spcBef>
              <a:spcAft>
                <a:spcPts val="100"/>
              </a:spcAft>
            </a:pPr>
            <a:r>
              <a:rPr sz="1250" b="1" i="0" dirty="0">
                <a:solidFill>
                  <a:srgbClr val="F1EDE6"/>
                </a:solidFill>
                <a:latin typeface="Trebuchet MS"/>
              </a:rPr>
              <a:t>06.05.26</a:t>
            </a:r>
          </a:p>
          <a:p>
            <a:pPr algn="ctr">
              <a:spcBef>
                <a:spcPts val="0"/>
              </a:spcBef>
              <a:spcAft>
                <a:spcPts val="0"/>
              </a:spcAft>
            </a:pPr>
            <a:r>
              <a:rPr sz="1050" b="0" i="0" dirty="0" err="1">
                <a:solidFill>
                  <a:srgbClr val="B9AFD6"/>
                </a:solidFill>
                <a:latin typeface="Trebuchet MS"/>
              </a:rPr>
              <a:t>Projektstart</a:t>
            </a:r>
            <a:r>
              <a:rPr lang="de-AT" sz="1050" b="0" i="0" dirty="0">
                <a:solidFill>
                  <a:srgbClr val="B9AFD6"/>
                </a:solidFill>
                <a:latin typeface="Trebuchet MS"/>
              </a:rPr>
              <a:t> &amp; Initiale Dokumentation</a:t>
            </a:r>
            <a:endParaRPr sz="1050" b="0" i="0" dirty="0">
              <a:solidFill>
                <a:srgbClr val="B9AFD6"/>
              </a:solidFill>
              <a:latin typeface="Trebuchet MS"/>
            </a:endParaRPr>
          </a:p>
        </p:txBody>
      </p:sp>
      <p:sp>
        <p:nvSpPr>
          <p:cNvPr id="20" name="Oval 19"/>
          <p:cNvSpPr/>
          <p:nvPr/>
        </p:nvSpPr>
        <p:spPr>
          <a:xfrm>
            <a:off x="4224528" y="4937760"/>
            <a:ext cx="292608" cy="292608"/>
          </a:xfrm>
          <a:prstGeom prst="ellipse">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03320" y="5349240"/>
            <a:ext cx="1737360" cy="565283"/>
          </a:xfrm>
          <a:prstGeom prst="rect">
            <a:avLst/>
          </a:prstGeom>
          <a:noFill/>
        </p:spPr>
        <p:txBody>
          <a:bodyPr wrap="square" lIns="45720" tIns="18288" rIns="45720" bIns="18288" anchor="t">
            <a:spAutoFit/>
          </a:bodyPr>
          <a:lstStyle/>
          <a:p>
            <a:pPr algn="ctr">
              <a:spcBef>
                <a:spcPts val="0"/>
              </a:spcBef>
              <a:spcAft>
                <a:spcPts val="100"/>
              </a:spcAft>
            </a:pPr>
            <a:r>
              <a:rPr sz="1250" b="1" i="0" dirty="0">
                <a:solidFill>
                  <a:srgbClr val="F1EDE6"/>
                </a:solidFill>
                <a:latin typeface="Trebuchet MS"/>
              </a:rPr>
              <a:t>Mai–Jun</a:t>
            </a:r>
            <a:r>
              <a:rPr lang="de-AT" sz="1250" b="1" i="0" dirty="0">
                <a:solidFill>
                  <a:srgbClr val="F1EDE6"/>
                </a:solidFill>
                <a:latin typeface="Trebuchet MS"/>
              </a:rPr>
              <a:t>i</a:t>
            </a:r>
            <a:endParaRPr sz="1250" b="1" i="0" dirty="0">
              <a:solidFill>
                <a:srgbClr val="F1EDE6"/>
              </a:solidFill>
              <a:latin typeface="Trebuchet MS"/>
            </a:endParaRPr>
          </a:p>
          <a:p>
            <a:pPr algn="ctr">
              <a:spcBef>
                <a:spcPts val="0"/>
              </a:spcBef>
              <a:spcAft>
                <a:spcPts val="0"/>
              </a:spcAft>
            </a:pPr>
            <a:r>
              <a:rPr sz="1050" b="0" i="0" dirty="0" err="1">
                <a:solidFill>
                  <a:srgbClr val="B9AFD6"/>
                </a:solidFill>
                <a:latin typeface="Trebuchet MS"/>
              </a:rPr>
              <a:t>Umsetzung</a:t>
            </a:r>
            <a:r>
              <a:rPr lang="de-AT" sz="1050" b="0" i="0" dirty="0">
                <a:solidFill>
                  <a:srgbClr val="B9AFD6"/>
                </a:solidFill>
                <a:latin typeface="Trebuchet MS"/>
              </a:rPr>
              <a:t> (Code)</a:t>
            </a:r>
            <a:endParaRPr sz="1050" b="0" i="0" dirty="0">
              <a:solidFill>
                <a:srgbClr val="B9AFD6"/>
              </a:solidFill>
              <a:latin typeface="Trebuchet MS"/>
            </a:endParaRPr>
          </a:p>
          <a:p>
            <a:pPr algn="ctr">
              <a:spcBef>
                <a:spcPts val="0"/>
              </a:spcBef>
              <a:spcAft>
                <a:spcPts val="0"/>
              </a:spcAft>
            </a:pPr>
            <a:r>
              <a:rPr sz="1050" b="0" i="0" dirty="0">
                <a:solidFill>
                  <a:srgbClr val="B9AFD6"/>
                </a:solidFill>
                <a:latin typeface="Trebuchet MS"/>
              </a:rPr>
              <a:t>&amp; </a:t>
            </a:r>
            <a:r>
              <a:rPr sz="1050" b="0" i="0" dirty="0" err="1">
                <a:solidFill>
                  <a:srgbClr val="B9AFD6"/>
                </a:solidFill>
                <a:latin typeface="Trebuchet MS"/>
              </a:rPr>
              <a:t>Wochenstatus</a:t>
            </a:r>
            <a:endParaRPr sz="1050" b="0" i="0" dirty="0">
              <a:solidFill>
                <a:srgbClr val="B9AFD6"/>
              </a:solidFill>
              <a:latin typeface="Trebuchet MS"/>
            </a:endParaRPr>
          </a:p>
        </p:txBody>
      </p:sp>
      <p:sp>
        <p:nvSpPr>
          <p:cNvPr id="22" name="Oval 21"/>
          <p:cNvSpPr/>
          <p:nvPr/>
        </p:nvSpPr>
        <p:spPr>
          <a:xfrm>
            <a:off x="7470648" y="4937760"/>
            <a:ext cx="292608" cy="292608"/>
          </a:xfrm>
          <a:prstGeom prst="ellipse">
            <a:avLst/>
          </a:prstGeom>
          <a:solidFill>
            <a:srgbClr val="76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49440" y="5349240"/>
            <a:ext cx="1737360" cy="565283"/>
          </a:xfrm>
          <a:prstGeom prst="rect">
            <a:avLst/>
          </a:prstGeom>
          <a:noFill/>
        </p:spPr>
        <p:txBody>
          <a:bodyPr wrap="square" lIns="45720" tIns="18288" rIns="45720" bIns="18288" anchor="t">
            <a:spAutoFit/>
          </a:bodyPr>
          <a:lstStyle/>
          <a:p>
            <a:pPr algn="ctr">
              <a:spcBef>
                <a:spcPts val="0"/>
              </a:spcBef>
              <a:spcAft>
                <a:spcPts val="100"/>
              </a:spcAft>
            </a:pPr>
            <a:r>
              <a:rPr lang="de-AT" sz="1250" b="1" i="0" dirty="0">
                <a:solidFill>
                  <a:srgbClr val="F1EDE6"/>
                </a:solidFill>
                <a:latin typeface="Trebuchet MS"/>
              </a:rPr>
              <a:t>Juni-Juli</a:t>
            </a:r>
            <a:endParaRPr sz="1250" b="1" i="0" dirty="0">
              <a:solidFill>
                <a:srgbClr val="F1EDE6"/>
              </a:solidFill>
              <a:latin typeface="Trebuchet MS"/>
            </a:endParaRPr>
          </a:p>
          <a:p>
            <a:pPr algn="ctr">
              <a:spcBef>
                <a:spcPts val="0"/>
              </a:spcBef>
              <a:spcAft>
                <a:spcPts val="0"/>
              </a:spcAft>
            </a:pPr>
            <a:r>
              <a:rPr lang="de-AT" sz="1050" b="0" i="0" dirty="0">
                <a:solidFill>
                  <a:srgbClr val="B9AFD6"/>
                </a:solidFill>
                <a:latin typeface="Trebuchet MS"/>
              </a:rPr>
              <a:t>Tests &amp; Restliche Dokumentation</a:t>
            </a:r>
            <a:endParaRPr sz="1050" b="0" i="0" dirty="0">
              <a:solidFill>
                <a:srgbClr val="B9AFD6"/>
              </a:solidFill>
              <a:latin typeface="Trebuchet MS"/>
            </a:endParaRPr>
          </a:p>
        </p:txBody>
      </p:sp>
      <p:sp>
        <p:nvSpPr>
          <p:cNvPr id="24" name="Oval 23"/>
          <p:cNvSpPr/>
          <p:nvPr/>
        </p:nvSpPr>
        <p:spPr>
          <a:xfrm>
            <a:off x="10716768" y="4937760"/>
            <a:ext cx="292608" cy="292608"/>
          </a:xfrm>
          <a:prstGeom prst="ellipse">
            <a:avLst/>
          </a:prstGeom>
          <a:solidFill>
            <a:srgbClr val="008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195560" y="5349240"/>
            <a:ext cx="1737360" cy="403700"/>
          </a:xfrm>
          <a:prstGeom prst="rect">
            <a:avLst/>
          </a:prstGeom>
          <a:noFill/>
        </p:spPr>
        <p:txBody>
          <a:bodyPr wrap="square" lIns="45720" tIns="18288" rIns="45720" bIns="18288" anchor="t">
            <a:spAutoFit/>
          </a:bodyPr>
          <a:lstStyle/>
          <a:p>
            <a:pPr algn="ctr">
              <a:spcBef>
                <a:spcPts val="0"/>
              </a:spcBef>
              <a:spcAft>
                <a:spcPts val="100"/>
              </a:spcAft>
            </a:pPr>
            <a:r>
              <a:rPr sz="1250" b="1" i="0" dirty="0">
                <a:solidFill>
                  <a:srgbClr val="F1EDE6"/>
                </a:solidFill>
                <a:latin typeface="Trebuchet MS"/>
              </a:rPr>
              <a:t>0</a:t>
            </a:r>
            <a:r>
              <a:rPr lang="de-AT" sz="1250" b="1" i="0" dirty="0">
                <a:solidFill>
                  <a:srgbClr val="F1EDE6"/>
                </a:solidFill>
                <a:latin typeface="Trebuchet MS"/>
              </a:rPr>
              <a:t>2</a:t>
            </a:r>
            <a:r>
              <a:rPr sz="1250" b="1" i="0" dirty="0">
                <a:solidFill>
                  <a:srgbClr val="F1EDE6"/>
                </a:solidFill>
                <a:latin typeface="Trebuchet MS"/>
              </a:rPr>
              <a:t>.07.26</a:t>
            </a:r>
          </a:p>
          <a:p>
            <a:pPr algn="ctr">
              <a:spcBef>
                <a:spcPts val="0"/>
              </a:spcBef>
              <a:spcAft>
                <a:spcPts val="0"/>
              </a:spcAft>
            </a:pPr>
            <a:r>
              <a:rPr sz="1050" b="0" i="0" dirty="0" err="1">
                <a:solidFill>
                  <a:srgbClr val="B9AFD6"/>
                </a:solidFill>
                <a:latin typeface="Trebuchet MS"/>
              </a:rPr>
              <a:t>Projektende</a:t>
            </a:r>
            <a:endParaRPr sz="1050" b="0" i="0" dirty="0">
              <a:solidFill>
                <a:srgbClr val="B9AFD6"/>
              </a:solidFill>
              <a:latin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566928"/>
            <a:ext cx="82296" cy="566928"/>
          </a:xfrm>
          <a:prstGeom prst="roundRect">
            <a:avLst>
              <a:gd name="adj" fmla="val 50000"/>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WOHIN LUMIFY WACHSEN KANN</a:t>
            </a:r>
          </a:p>
          <a:p>
            <a:pPr algn="l">
              <a:spcBef>
                <a:spcPts val="0"/>
              </a:spcBef>
              <a:spcAft>
                <a:spcPts val="0"/>
              </a:spcAft>
            </a:pPr>
            <a:r>
              <a:rPr sz="3200" b="1" i="0">
                <a:solidFill>
                  <a:srgbClr val="F1EDE6"/>
                </a:solidFill>
                <a:latin typeface="Trebuchet MS"/>
              </a:rPr>
              <a:t>Ausblick</a:t>
            </a:r>
          </a:p>
        </p:txBody>
      </p:sp>
      <p:sp>
        <p:nvSpPr>
          <p:cNvPr id="7" name="TextBox 6"/>
          <p:cNvSpPr txBox="1"/>
          <p:nvPr/>
        </p:nvSpPr>
        <p:spPr>
          <a:xfrm>
            <a:off x="640080" y="6419088"/>
            <a:ext cx="7315200" cy="365760"/>
          </a:xfrm>
          <a:prstGeom prst="rect">
            <a:avLst/>
          </a:prstGeom>
          <a:noFill/>
        </p:spPr>
        <p:txBody>
          <a:bodyPr wrap="square" lIns="45720" tIns="18288" rIns="45720" bIns="18288" anchor="t">
            <a:spAutoFit/>
          </a:bodyPr>
          <a:lstStyle/>
          <a:p>
            <a:pPr algn="l">
              <a:spcBef>
                <a:spcPts val="0"/>
              </a:spcBef>
              <a:spcAft>
                <a:spcPts val="0"/>
              </a:spcAft>
            </a:pPr>
            <a:r>
              <a:rPr sz="950" b="0" i="0">
                <a:solidFill>
                  <a:srgbClr val="B9AFD6"/>
                </a:solidFill>
                <a:latin typeface="Trebuchet MS"/>
              </a:rPr>
              <a:t>Lumify · Bring clarity into your life</a:t>
            </a:r>
          </a:p>
        </p:txBody>
      </p:sp>
      <p:sp>
        <p:nvSpPr>
          <p:cNvPr id="8" name="TextBox 7"/>
          <p:cNvSpPr txBox="1"/>
          <p:nvPr/>
        </p:nvSpPr>
        <p:spPr>
          <a:xfrm>
            <a:off x="10607040" y="6419088"/>
            <a:ext cx="1005840" cy="365760"/>
          </a:xfrm>
          <a:prstGeom prst="rect">
            <a:avLst/>
          </a:prstGeom>
          <a:noFill/>
        </p:spPr>
        <p:txBody>
          <a:bodyPr wrap="square" lIns="45720" tIns="18288" rIns="45720" bIns="18288" anchor="t">
            <a:spAutoFit/>
          </a:bodyPr>
          <a:lstStyle/>
          <a:p>
            <a:pPr algn="r">
              <a:spcBef>
                <a:spcPts val="0"/>
              </a:spcBef>
              <a:spcAft>
                <a:spcPts val="0"/>
              </a:spcAft>
            </a:pPr>
            <a:r>
              <a:rPr sz="1000" b="0" i="0">
                <a:solidFill>
                  <a:srgbClr val="B9AFD6"/>
                </a:solidFill>
                <a:latin typeface="Trebuchet MS"/>
              </a:rPr>
              <a:t>17</a:t>
            </a:r>
          </a:p>
        </p:txBody>
      </p:sp>
      <p:sp>
        <p:nvSpPr>
          <p:cNvPr id="9" name="Rounded Rectangle 8"/>
          <p:cNvSpPr/>
          <p:nvPr/>
        </p:nvSpPr>
        <p:spPr>
          <a:xfrm>
            <a:off x="640080" y="566928"/>
            <a:ext cx="82296" cy="566928"/>
          </a:xfrm>
          <a:prstGeom prst="roundRect">
            <a:avLst>
              <a:gd name="adj" fmla="val 50000"/>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11480"/>
            <a:ext cx="10607040" cy="914400"/>
          </a:xfrm>
          <a:prstGeom prst="rect">
            <a:avLst/>
          </a:prstGeom>
          <a:noFill/>
        </p:spPr>
        <p:txBody>
          <a:bodyPr wrap="square" lIns="45720" tIns="18288" rIns="45720" bIns="18288" anchor="t">
            <a:spAutoFit/>
          </a:bodyPr>
          <a:lstStyle/>
          <a:p>
            <a:pPr algn="l">
              <a:spcBef>
                <a:spcPts val="0"/>
              </a:spcBef>
              <a:spcAft>
                <a:spcPts val="200"/>
              </a:spcAft>
            </a:pPr>
            <a:r>
              <a:rPr sz="1300" b="1" i="0">
                <a:solidFill>
                  <a:srgbClr val="76E3F1"/>
                </a:solidFill>
                <a:latin typeface="Trebuchet MS"/>
              </a:rPr>
              <a:t>WOHIN LUMIFY WACHSEN KANN</a:t>
            </a:r>
          </a:p>
          <a:p>
            <a:pPr algn="l">
              <a:spcBef>
                <a:spcPts val="0"/>
              </a:spcBef>
              <a:spcAft>
                <a:spcPts val="0"/>
              </a:spcAft>
            </a:pPr>
            <a:r>
              <a:rPr sz="3200" b="1" i="0">
                <a:solidFill>
                  <a:srgbClr val="F1EDE6"/>
                </a:solidFill>
                <a:latin typeface="Trebuchet MS"/>
              </a:rPr>
              <a:t>Ausblick</a:t>
            </a:r>
          </a:p>
        </p:txBody>
      </p:sp>
      <p:sp>
        <p:nvSpPr>
          <p:cNvPr id="11" name="TextBox 10"/>
          <p:cNvSpPr txBox="1"/>
          <p:nvPr/>
        </p:nvSpPr>
        <p:spPr>
          <a:xfrm>
            <a:off x="868680" y="1463040"/>
            <a:ext cx="10424160" cy="822960"/>
          </a:xfrm>
          <a:prstGeom prst="rect">
            <a:avLst/>
          </a:prstGeom>
          <a:noFill/>
        </p:spPr>
        <p:txBody>
          <a:bodyPr wrap="square" lIns="45720" tIns="18288" rIns="45720" bIns="18288" anchor="t">
            <a:spAutoFit/>
          </a:bodyPr>
          <a:lstStyle/>
          <a:p>
            <a:pPr algn="l">
              <a:spcBef>
                <a:spcPts val="0"/>
              </a:spcBef>
              <a:spcAft>
                <a:spcPts val="0"/>
              </a:spcAft>
            </a:pPr>
            <a:r>
              <a:rPr sz="1600" b="0" i="0">
                <a:solidFill>
                  <a:srgbClr val="F1EDE6"/>
                </a:solidFill>
                <a:latin typeface="Trebuchet MS"/>
              </a:rPr>
              <a:t>Der erweiterbare Aufbau zahlt sich aus: </a:t>
            </a:r>
            <a:r>
              <a:rPr sz="1600" b="1" i="0">
                <a:solidFill>
                  <a:srgbClr val="76E3F1"/>
                </a:solidFill>
                <a:latin typeface="Trebuchet MS"/>
              </a:rPr>
              <a:t>neue Features sind neue Module</a:t>
            </a:r>
            <a:r>
              <a:rPr sz="1600" b="0" i="0">
                <a:solidFill>
                  <a:srgbClr val="F1EDE6"/>
                </a:solidFill>
                <a:latin typeface="Trebuchet MS"/>
              </a:rPr>
              <a:t> - das Fundament bleibt unverändert.</a:t>
            </a:r>
          </a:p>
        </p:txBody>
      </p:sp>
      <p:sp>
        <p:nvSpPr>
          <p:cNvPr id="12" name="Rounded Rectangle 11"/>
          <p:cNvSpPr/>
          <p:nvPr/>
        </p:nvSpPr>
        <p:spPr>
          <a:xfrm>
            <a:off x="868680" y="2423160"/>
            <a:ext cx="3383280" cy="164592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43000" y="2697480"/>
            <a:ext cx="411480" cy="411480"/>
          </a:xfrm>
          <a:prstGeom prst="ellipse">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3000" y="3246120"/>
            <a:ext cx="2834640" cy="652486"/>
          </a:xfrm>
          <a:prstGeom prst="rect">
            <a:avLst/>
          </a:prstGeom>
          <a:noFill/>
        </p:spPr>
        <p:txBody>
          <a:bodyPr wrap="square" lIns="45720" tIns="18288" rIns="45720" bIns="18288" anchor="t">
            <a:spAutoFit/>
          </a:bodyPr>
          <a:lstStyle/>
          <a:p>
            <a:pPr algn="l">
              <a:spcBef>
                <a:spcPts val="0"/>
              </a:spcBef>
              <a:spcAft>
                <a:spcPts val="300"/>
              </a:spcAft>
            </a:pPr>
            <a:r>
              <a:rPr sz="1450" b="1" i="0" dirty="0">
                <a:solidFill>
                  <a:srgbClr val="F1EDE6"/>
                </a:solidFill>
                <a:latin typeface="Trebuchet MS"/>
              </a:rPr>
              <a:t>Neue Feature-Module</a:t>
            </a:r>
          </a:p>
          <a:p>
            <a:pPr algn="l">
              <a:spcBef>
                <a:spcPts val="0"/>
              </a:spcBef>
              <a:spcAft>
                <a:spcPts val="0"/>
              </a:spcAft>
            </a:pPr>
            <a:r>
              <a:rPr sz="1150" b="0" i="0" dirty="0">
                <a:solidFill>
                  <a:srgbClr val="B9AFD6"/>
                </a:solidFill>
                <a:latin typeface="Trebuchet MS"/>
              </a:rPr>
              <a:t>z. B. Whiteboard, </a:t>
            </a:r>
            <a:r>
              <a:rPr lang="de-AT" sz="1150" b="0" i="0" dirty="0" err="1">
                <a:solidFill>
                  <a:srgbClr val="B9AFD6"/>
                </a:solidFill>
                <a:latin typeface="Trebuchet MS"/>
              </a:rPr>
              <a:t>Canban</a:t>
            </a:r>
            <a:r>
              <a:rPr lang="de-AT" sz="1150" b="0" i="0" dirty="0">
                <a:solidFill>
                  <a:srgbClr val="B9AFD6"/>
                </a:solidFill>
                <a:latin typeface="Trebuchet MS"/>
              </a:rPr>
              <a:t>, Dateieinbindung bei Notes </a:t>
            </a:r>
            <a:endParaRPr sz="1150" b="0" i="0" dirty="0">
              <a:solidFill>
                <a:srgbClr val="B9AFD6"/>
              </a:solidFill>
              <a:latin typeface="Trebuchet MS"/>
            </a:endParaRPr>
          </a:p>
        </p:txBody>
      </p:sp>
      <p:sp>
        <p:nvSpPr>
          <p:cNvPr id="15" name="Rounded Rectangle 14"/>
          <p:cNvSpPr/>
          <p:nvPr/>
        </p:nvSpPr>
        <p:spPr>
          <a:xfrm>
            <a:off x="4462272" y="2423160"/>
            <a:ext cx="3383280" cy="164592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736592" y="2697480"/>
            <a:ext cx="411480" cy="411480"/>
          </a:xfrm>
          <a:prstGeom prst="ellipse">
            <a:avLst/>
          </a:prstGeom>
          <a:solidFill>
            <a:srgbClr val="44B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36592" y="3246120"/>
            <a:ext cx="2834640" cy="777240"/>
          </a:xfrm>
          <a:prstGeom prst="rect">
            <a:avLst/>
          </a:prstGeom>
          <a:noFill/>
        </p:spPr>
        <p:txBody>
          <a:bodyPr wrap="square" lIns="45720" tIns="18288" rIns="45720" bIns="18288" anchor="t">
            <a:spAutoFit/>
          </a:bodyPr>
          <a:lstStyle/>
          <a:p>
            <a:pPr algn="l">
              <a:spcBef>
                <a:spcPts val="0"/>
              </a:spcBef>
              <a:spcAft>
                <a:spcPts val="300"/>
              </a:spcAft>
            </a:pPr>
            <a:r>
              <a:rPr sz="1450" b="1" i="0">
                <a:solidFill>
                  <a:srgbClr val="F1EDE6"/>
                </a:solidFill>
                <a:latin typeface="Trebuchet MS"/>
              </a:rPr>
              <a:t>Mobile / Responsive</a:t>
            </a:r>
          </a:p>
          <a:p>
            <a:pPr algn="l">
              <a:spcBef>
                <a:spcPts val="0"/>
              </a:spcBef>
              <a:spcAft>
                <a:spcPts val="0"/>
              </a:spcAft>
            </a:pPr>
            <a:r>
              <a:rPr sz="1150" b="0" i="0">
                <a:solidFill>
                  <a:srgbClr val="B9AFD6"/>
                </a:solidFill>
                <a:latin typeface="Trebuchet MS"/>
              </a:rPr>
              <a:t>Nutzung auf weiteren Bildschirmgrößen ausbauen.</a:t>
            </a:r>
          </a:p>
        </p:txBody>
      </p:sp>
      <p:sp>
        <p:nvSpPr>
          <p:cNvPr id="18" name="Rounded Rectangle 17"/>
          <p:cNvSpPr/>
          <p:nvPr/>
        </p:nvSpPr>
        <p:spPr>
          <a:xfrm>
            <a:off x="8055864" y="2423160"/>
            <a:ext cx="3383280" cy="164592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330184" y="2697480"/>
            <a:ext cx="411480" cy="411480"/>
          </a:xfrm>
          <a:prstGeom prst="ellipse">
            <a:avLst/>
          </a:prstGeom>
          <a:solidFill>
            <a:srgbClr val="856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0184" y="3246120"/>
            <a:ext cx="2834640" cy="652486"/>
          </a:xfrm>
          <a:prstGeom prst="rect">
            <a:avLst/>
          </a:prstGeom>
          <a:noFill/>
        </p:spPr>
        <p:txBody>
          <a:bodyPr wrap="square" lIns="45720" tIns="18288" rIns="45720" bIns="18288" anchor="t">
            <a:spAutoFit/>
          </a:bodyPr>
          <a:lstStyle/>
          <a:p>
            <a:pPr algn="l">
              <a:spcBef>
                <a:spcPts val="0"/>
              </a:spcBef>
              <a:spcAft>
                <a:spcPts val="300"/>
              </a:spcAft>
            </a:pPr>
            <a:r>
              <a:rPr sz="1450" b="1" i="0" dirty="0">
                <a:solidFill>
                  <a:srgbClr val="F1EDE6"/>
                </a:solidFill>
                <a:latin typeface="Trebuchet MS"/>
              </a:rPr>
              <a:t>Rollen &amp; Rechte</a:t>
            </a:r>
          </a:p>
          <a:p>
            <a:pPr algn="l">
              <a:spcBef>
                <a:spcPts val="0"/>
              </a:spcBef>
              <a:spcAft>
                <a:spcPts val="0"/>
              </a:spcAft>
            </a:pPr>
            <a:r>
              <a:rPr sz="1150" b="0" i="0" dirty="0" err="1">
                <a:solidFill>
                  <a:srgbClr val="B9AFD6"/>
                </a:solidFill>
                <a:latin typeface="Trebuchet MS"/>
              </a:rPr>
              <a:t>Feinere</a:t>
            </a:r>
            <a:r>
              <a:rPr sz="1150" b="0" i="0" dirty="0">
                <a:solidFill>
                  <a:srgbClr val="B9AFD6"/>
                </a:solidFill>
                <a:latin typeface="Trebuchet MS"/>
              </a:rPr>
              <a:t> </a:t>
            </a:r>
            <a:r>
              <a:rPr sz="1150" b="0" i="0" dirty="0" err="1">
                <a:solidFill>
                  <a:srgbClr val="B9AFD6"/>
                </a:solidFill>
                <a:latin typeface="Trebuchet MS"/>
              </a:rPr>
              <a:t>Berechtigungen</a:t>
            </a:r>
            <a:r>
              <a:rPr sz="1150" b="0" i="0" dirty="0">
                <a:solidFill>
                  <a:srgbClr val="B9AFD6"/>
                </a:solidFill>
                <a:latin typeface="Trebuchet MS"/>
              </a:rPr>
              <a:t> </a:t>
            </a:r>
            <a:r>
              <a:rPr sz="1150" b="0" i="0" dirty="0" err="1">
                <a:solidFill>
                  <a:srgbClr val="B9AFD6"/>
                </a:solidFill>
                <a:latin typeface="Trebuchet MS"/>
              </a:rPr>
              <a:t>innerhalb</a:t>
            </a:r>
            <a:r>
              <a:rPr sz="1150" b="0" i="0" dirty="0">
                <a:solidFill>
                  <a:srgbClr val="B9AFD6"/>
                </a:solidFill>
                <a:latin typeface="Trebuchet MS"/>
              </a:rPr>
              <a:t> von Workspaces.</a:t>
            </a:r>
            <a:r>
              <a:rPr lang="de-AT" sz="1150" b="0" i="0" dirty="0">
                <a:solidFill>
                  <a:srgbClr val="B9AFD6"/>
                </a:solidFill>
                <a:latin typeface="Trebuchet MS"/>
              </a:rPr>
              <a:t> Rechteverwaltung</a:t>
            </a:r>
            <a:endParaRPr sz="1150" b="0" i="0" dirty="0">
              <a:solidFill>
                <a:srgbClr val="B9AFD6"/>
              </a:solidFill>
              <a:latin typeface="Trebuchet MS"/>
            </a:endParaRPr>
          </a:p>
        </p:txBody>
      </p:sp>
      <p:sp>
        <p:nvSpPr>
          <p:cNvPr id="21" name="Rounded Rectangle 20"/>
          <p:cNvSpPr/>
          <p:nvPr/>
        </p:nvSpPr>
        <p:spPr>
          <a:xfrm>
            <a:off x="868680" y="4251960"/>
            <a:ext cx="3383280" cy="164592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43000" y="4526280"/>
            <a:ext cx="411480" cy="41148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43000" y="5074920"/>
            <a:ext cx="2834640" cy="777240"/>
          </a:xfrm>
          <a:prstGeom prst="rect">
            <a:avLst/>
          </a:prstGeom>
          <a:noFill/>
        </p:spPr>
        <p:txBody>
          <a:bodyPr wrap="square" lIns="45720" tIns="18288" rIns="45720" bIns="18288" anchor="t">
            <a:spAutoFit/>
          </a:bodyPr>
          <a:lstStyle/>
          <a:p>
            <a:pPr algn="l">
              <a:spcBef>
                <a:spcPts val="0"/>
              </a:spcBef>
              <a:spcAft>
                <a:spcPts val="300"/>
              </a:spcAft>
            </a:pPr>
            <a:r>
              <a:rPr sz="1450" b="1" i="0">
                <a:solidFill>
                  <a:srgbClr val="F1EDE6"/>
                </a:solidFill>
                <a:latin typeface="Trebuchet MS"/>
              </a:rPr>
              <a:t>Benachrichtigungen</a:t>
            </a:r>
          </a:p>
          <a:p>
            <a:pPr algn="l">
              <a:spcBef>
                <a:spcPts val="0"/>
              </a:spcBef>
              <a:spcAft>
                <a:spcPts val="0"/>
              </a:spcAft>
            </a:pPr>
            <a:r>
              <a:rPr sz="1150" b="0" i="0">
                <a:solidFill>
                  <a:srgbClr val="B9AFD6"/>
                </a:solidFill>
                <a:latin typeface="Trebuchet MS"/>
              </a:rPr>
              <a:t>Hinweise zu Änderungen, Erwähnungen &amp; Terminen.</a:t>
            </a:r>
          </a:p>
        </p:txBody>
      </p:sp>
      <p:sp>
        <p:nvSpPr>
          <p:cNvPr id="24" name="Rounded Rectangle 23"/>
          <p:cNvSpPr/>
          <p:nvPr/>
        </p:nvSpPr>
        <p:spPr>
          <a:xfrm>
            <a:off x="4462272" y="4251960"/>
            <a:ext cx="3383280" cy="164592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4736592" y="4526280"/>
            <a:ext cx="411480" cy="411480"/>
          </a:xfrm>
          <a:prstGeom prst="ellipse">
            <a:avLst/>
          </a:prstGeom>
          <a:solidFill>
            <a:srgbClr val="76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36592" y="5074920"/>
            <a:ext cx="2834640" cy="652486"/>
          </a:xfrm>
          <a:prstGeom prst="rect">
            <a:avLst/>
          </a:prstGeom>
          <a:noFill/>
        </p:spPr>
        <p:txBody>
          <a:bodyPr wrap="square" lIns="45720" tIns="18288" rIns="45720" bIns="18288" anchor="t">
            <a:spAutoFit/>
          </a:bodyPr>
          <a:lstStyle/>
          <a:p>
            <a:pPr algn="l">
              <a:spcBef>
                <a:spcPts val="0"/>
              </a:spcBef>
              <a:spcAft>
                <a:spcPts val="300"/>
              </a:spcAft>
            </a:pPr>
            <a:r>
              <a:rPr lang="de-AT" sz="1450" b="1" i="0" dirty="0">
                <a:solidFill>
                  <a:srgbClr val="F1EDE6"/>
                </a:solidFill>
                <a:latin typeface="Trebuchet MS"/>
              </a:rPr>
              <a:t>Administration</a:t>
            </a:r>
            <a:endParaRPr sz="1450" b="1" i="0" dirty="0">
              <a:solidFill>
                <a:srgbClr val="F1EDE6"/>
              </a:solidFill>
              <a:latin typeface="Trebuchet MS"/>
            </a:endParaRPr>
          </a:p>
          <a:p>
            <a:pPr algn="l">
              <a:spcBef>
                <a:spcPts val="0"/>
              </a:spcBef>
              <a:spcAft>
                <a:spcPts val="0"/>
              </a:spcAft>
            </a:pPr>
            <a:r>
              <a:rPr lang="de-AT" sz="1150" b="0" i="0" dirty="0">
                <a:solidFill>
                  <a:srgbClr val="B9AFD6"/>
                </a:solidFill>
                <a:latin typeface="Trebuchet MS"/>
              </a:rPr>
              <a:t>Dashboard und Toolseit</a:t>
            </a:r>
            <a:r>
              <a:rPr lang="de-AT" sz="1150" dirty="0">
                <a:solidFill>
                  <a:srgbClr val="B9AFD6"/>
                </a:solidFill>
                <a:latin typeface="Trebuchet MS"/>
              </a:rPr>
              <a:t>e für administrative Tätigkeiten</a:t>
            </a:r>
            <a:endParaRPr sz="1150" b="0" i="0" dirty="0">
              <a:solidFill>
                <a:srgbClr val="B9AFD6"/>
              </a:solidFill>
              <a:latin typeface="Trebuchet MS"/>
            </a:endParaRPr>
          </a:p>
        </p:txBody>
      </p:sp>
      <p:sp>
        <p:nvSpPr>
          <p:cNvPr id="27" name="Rounded Rectangle 26"/>
          <p:cNvSpPr/>
          <p:nvPr/>
        </p:nvSpPr>
        <p:spPr>
          <a:xfrm>
            <a:off x="8055864" y="4251960"/>
            <a:ext cx="3383280" cy="1645920"/>
          </a:xfrm>
          <a:prstGeom prst="roundRect">
            <a:avLst>
              <a:gd name="adj" fmla="val 8000"/>
            </a:avLst>
          </a:prstGeom>
          <a:solidFill>
            <a:srgbClr val="3A2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330184" y="4526280"/>
            <a:ext cx="411480" cy="411480"/>
          </a:xfrm>
          <a:prstGeom prst="ellipse">
            <a:avLst/>
          </a:prstGeom>
          <a:solidFill>
            <a:srgbClr val="008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30184" y="5074920"/>
            <a:ext cx="2834640" cy="777240"/>
          </a:xfrm>
          <a:prstGeom prst="rect">
            <a:avLst/>
          </a:prstGeom>
          <a:noFill/>
        </p:spPr>
        <p:txBody>
          <a:bodyPr wrap="square" lIns="45720" tIns="18288" rIns="45720" bIns="18288" anchor="t">
            <a:spAutoFit/>
          </a:bodyPr>
          <a:lstStyle/>
          <a:p>
            <a:pPr algn="l">
              <a:spcBef>
                <a:spcPts val="0"/>
              </a:spcBef>
              <a:spcAft>
                <a:spcPts val="300"/>
              </a:spcAft>
            </a:pPr>
            <a:r>
              <a:rPr sz="1450" b="1" i="0">
                <a:solidFill>
                  <a:srgbClr val="F1EDE6"/>
                </a:solidFill>
                <a:latin typeface="Trebuchet MS"/>
              </a:rPr>
              <a:t>Mehr Themes</a:t>
            </a:r>
          </a:p>
          <a:p>
            <a:pPr algn="l">
              <a:spcBef>
                <a:spcPts val="0"/>
              </a:spcBef>
              <a:spcAft>
                <a:spcPts val="0"/>
              </a:spcAft>
            </a:pPr>
            <a:r>
              <a:rPr sz="1150" b="0" i="0">
                <a:solidFill>
                  <a:srgbClr val="B9AFD6"/>
                </a:solidFill>
                <a:latin typeface="Trebuchet MS"/>
              </a:rPr>
              <a:t>Das stimmungsbasierte UI weiter ausbauen.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3A2E66"/>
              </a:gs>
              <a:gs pos="100000">
                <a:srgbClr val="241C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91840" y="-2377440"/>
            <a:ext cx="5486400" cy="4572000"/>
          </a:xfrm>
          <a:prstGeom prst="ellipse">
            <a:avLst/>
          </a:prstGeom>
          <a:solidFill>
            <a:srgbClr val="FFA228">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023360"/>
            <a:ext cx="4572000" cy="4572000"/>
          </a:xfrm>
          <a:prstGeom prst="ellipse">
            <a:avLst/>
          </a:prstGeom>
          <a:solidFill>
            <a:srgbClr val="44B9C9">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3931920" y="914400"/>
            <a:ext cx="4389120" cy="3108960"/>
          </a:xfrm>
          <a:prstGeom prst="ellipse">
            <a:avLst/>
          </a:prstGeom>
          <a:solidFill>
            <a:srgbClr val="FFA228">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20240"/>
            <a:ext cx="10332720" cy="1828800"/>
          </a:xfrm>
          <a:prstGeom prst="rect">
            <a:avLst/>
          </a:prstGeom>
          <a:noFill/>
        </p:spPr>
        <p:txBody>
          <a:bodyPr wrap="square" lIns="45720" tIns="18288" rIns="45720" bIns="18288" anchor="ctr">
            <a:spAutoFit/>
          </a:bodyPr>
          <a:lstStyle/>
          <a:p>
            <a:pPr algn="ctr">
              <a:spcBef>
                <a:spcPts val="0"/>
              </a:spcBef>
              <a:spcAft>
                <a:spcPts val="600"/>
              </a:spcAft>
            </a:pPr>
            <a:r>
              <a:rPr sz="5800" b="1" i="0">
                <a:solidFill>
                  <a:srgbClr val="F1EDE6"/>
                </a:solidFill>
                <a:latin typeface="Trebuchet MS"/>
              </a:rPr>
              <a:t>Vielen Dank!</a:t>
            </a:r>
          </a:p>
          <a:p>
            <a:pPr algn="ctr">
              <a:spcBef>
                <a:spcPts val="0"/>
              </a:spcBef>
              <a:spcAft>
                <a:spcPts val="0"/>
              </a:spcAft>
            </a:pPr>
            <a:r>
              <a:rPr sz="2200" b="0" i="1">
                <a:solidFill>
                  <a:srgbClr val="76E3F1"/>
                </a:solidFill>
                <a:latin typeface="Trebuchet MS"/>
              </a:rPr>
              <a:t>Lumify · Bring clarity into your life</a:t>
            </a:r>
          </a:p>
        </p:txBody>
      </p:sp>
      <p:sp>
        <p:nvSpPr>
          <p:cNvPr id="7" name="Rectangle 6"/>
          <p:cNvSpPr/>
          <p:nvPr/>
        </p:nvSpPr>
        <p:spPr>
          <a:xfrm>
            <a:off x="4937760" y="4023360"/>
            <a:ext cx="2286000" cy="25400"/>
          </a:xfrm>
          <a:prstGeom prst="rect">
            <a:avLst/>
          </a:prstGeom>
          <a:solidFill>
            <a:srgbClr val="FFA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297680"/>
            <a:ext cx="10332720" cy="1463040"/>
          </a:xfrm>
          <a:prstGeom prst="rect">
            <a:avLst/>
          </a:prstGeom>
          <a:noFill/>
        </p:spPr>
        <p:txBody>
          <a:bodyPr wrap="square" lIns="45720" tIns="18288" rIns="45720" bIns="18288" anchor="t">
            <a:spAutoFit/>
          </a:bodyPr>
          <a:lstStyle/>
          <a:p>
            <a:pPr algn="ctr">
              <a:spcBef>
                <a:spcPts val="0"/>
              </a:spcBef>
              <a:spcAft>
                <a:spcPts val="1000"/>
              </a:spcAft>
            </a:pPr>
            <a:r>
              <a:rPr sz="1800" b="1" i="0">
                <a:solidFill>
                  <a:srgbClr val="F1EDE6"/>
                </a:solidFill>
                <a:latin typeface="Trebuchet MS"/>
              </a:rPr>
              <a:t>Fragen? Gerne jetzt – oder eine kurze Live-Demo.</a:t>
            </a:r>
          </a:p>
          <a:p>
            <a:pPr algn="ctr">
              <a:spcBef>
                <a:spcPts val="0"/>
              </a:spcBef>
              <a:spcAft>
                <a:spcPts val="0"/>
              </a:spcAft>
            </a:pPr>
            <a:r>
              <a:rPr sz="1400" b="1" i="0">
                <a:solidFill>
                  <a:srgbClr val="F1EDE6"/>
                </a:solidFill>
                <a:latin typeface="Trebuchet MS"/>
              </a:rPr>
              <a:t>Christian Riepl</a:t>
            </a:r>
            <a:r>
              <a:rPr sz="1400" b="0" i="0">
                <a:solidFill>
                  <a:srgbClr val="B9AFD6"/>
                </a:solidFill>
                <a:latin typeface="Trebuchet MS"/>
              </a:rPr>
              <a:t>   ·   Klasse 4Ie   ·   2025/26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2405</Words>
  <Application>Microsoft Office PowerPoint</Application>
  <PresentationFormat>Breitbild</PresentationFormat>
  <Paragraphs>302</Paragraphs>
  <Slides>18</Slides>
  <Notes>15</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18</vt:i4>
      </vt:variant>
    </vt:vector>
  </HeadingPairs>
  <TitlesOfParts>
    <vt:vector size="22" baseType="lpstr">
      <vt:lpstr>Arial</vt:lpstr>
      <vt:lpstr>Calibri</vt:lpstr>
      <vt:lpstr>Trebuchet MS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Riepl Christian</cp:lastModifiedBy>
  <cp:revision>8</cp:revision>
  <dcterms:created xsi:type="dcterms:W3CDTF">2013-01-27T09:14:16Z</dcterms:created>
  <dcterms:modified xsi:type="dcterms:W3CDTF">2026-06-24T12:50:03Z</dcterms:modified>
  <cp:category/>
</cp:coreProperties>
</file>